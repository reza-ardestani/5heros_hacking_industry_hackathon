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50e35d0dab44b9" /><Relationship Type="http://schemas.openxmlformats.org/officeDocument/2006/relationships/extended-properties" Target="/docProps/app.xml" Id="R2bf5219f834e484f" /><Relationship Type="http://schemas.openxmlformats.org/officeDocument/2006/relationships/officeDocument" Target="/ppt/presentation.xml" Id="R9b0a9d7cfa6b44b8" /></Relationships>
</file>

<file path=ppt/presentation.xml><?xml version="1.0" encoding="utf-8"?>
<p:presentation xmlns:p="http://schemas.openxmlformats.org/presentationml/2006/main">
  <p:sldMasterIdLst>
    <p:sldMasterId xmlns:r="http://schemas.openxmlformats.org/officeDocument/2006/relationships" id="2147483648" r:id="R741acfc719da4fe3"/>
  </p:sldMasterIdLst>
  <p:notesMasterIdLst>
    <p:notesMasterId xmlns:r="http://schemas.openxmlformats.org/officeDocument/2006/relationships" r:id="R3ddf593739dd4f9d"/>
  </p:notesMasterIdLst>
  <p:sldIdLst>
    <p:sldId xmlns:r="http://schemas.openxmlformats.org/officeDocument/2006/relationships" id="256" r:id="Re6322452f1a244ce"/>
    <p:sldId xmlns:r="http://schemas.openxmlformats.org/officeDocument/2006/relationships" id="257" r:id="Rd7490d1b456a4026"/>
    <p:sldId xmlns:r="http://schemas.openxmlformats.org/officeDocument/2006/relationships" id="258" r:id="R0798451fbe4240ae"/>
    <p:sldId xmlns:r="http://schemas.openxmlformats.org/officeDocument/2006/relationships" id="259" r:id="R25989c1601f94558"/>
    <p:sldId xmlns:r="http://schemas.openxmlformats.org/officeDocument/2006/relationships" id="260" r:id="R7b1d3ca2e2f045de"/>
    <p:sldId xmlns:r="http://schemas.openxmlformats.org/officeDocument/2006/relationships" id="261" r:id="Ra8eb46b7da954fb7"/>
    <p:sldId xmlns:r="http://schemas.openxmlformats.org/officeDocument/2006/relationships" id="262" r:id="R60177b2ca83d42d7"/>
    <p:sldId xmlns:r="http://schemas.openxmlformats.org/officeDocument/2006/relationships" id="263" r:id="R559fccdca4794be1"/>
    <p:sldId xmlns:r="http://schemas.openxmlformats.org/officeDocument/2006/relationships" id="264" r:id="R88711c8ccb13471b"/>
    <p:sldId xmlns:r="http://schemas.openxmlformats.org/officeDocument/2006/relationships" id="265" r:id="R4c6a323276634f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1480e65f9f4079" /><Relationship Type="http://schemas.openxmlformats.org/officeDocument/2006/relationships/slideMaster" Target="/ppt/slideMasters/slideMaster1.xml" Id="R741acfc719da4fe3" /><Relationship Type="http://schemas.openxmlformats.org/officeDocument/2006/relationships/notesMaster" Target="/ppt/notesMasters/notesMaster1.xml" Id="R3ddf593739dd4f9d" /><Relationship Type="http://schemas.openxmlformats.org/officeDocument/2006/relationships/presProps" Target="/ppt/presProps.xml" Id="Rb87cdc51ae5a470a" /><Relationship Type="http://schemas.openxmlformats.org/officeDocument/2006/relationships/tableStyles" Target="/ppt/tableStyles.xml" Id="R6e2840eea7b2476e" /><Relationship Type="http://schemas.openxmlformats.org/officeDocument/2006/relationships/slide" Target="/ppt/slides/slide1.xml" Id="Re6322452f1a244ce" /><Relationship Type="http://schemas.openxmlformats.org/officeDocument/2006/relationships/slide" Target="/ppt/slides/slide2.xml" Id="Rd7490d1b456a4026" /><Relationship Type="http://schemas.openxmlformats.org/officeDocument/2006/relationships/slide" Target="/ppt/slides/slide3.xml" Id="R0798451fbe4240ae" /><Relationship Type="http://schemas.openxmlformats.org/officeDocument/2006/relationships/slide" Target="/ppt/slides/slide4.xml" Id="R25989c1601f94558" /><Relationship Type="http://schemas.openxmlformats.org/officeDocument/2006/relationships/slide" Target="/ppt/slides/slide5.xml" Id="R7b1d3ca2e2f045de" /><Relationship Type="http://schemas.openxmlformats.org/officeDocument/2006/relationships/slide" Target="/ppt/slides/slide6.xml" Id="Ra8eb46b7da954fb7" /><Relationship Type="http://schemas.openxmlformats.org/officeDocument/2006/relationships/slide" Target="/ppt/slides/slide7.xml" Id="R60177b2ca83d42d7" /><Relationship Type="http://schemas.openxmlformats.org/officeDocument/2006/relationships/slide" Target="/ppt/slides/slide8.xml" Id="R559fccdca4794be1" /><Relationship Type="http://schemas.openxmlformats.org/officeDocument/2006/relationships/slide" Target="/ppt/slides/slide9.xml" Id="R88711c8ccb13471b" /><Relationship Type="http://schemas.openxmlformats.org/officeDocument/2006/relationships/slide" Target="/ppt/slides/slide10.xml" Id="R4c6a323276634f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058ba34d8e4f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cec5d567e04609" /><Relationship Type="http://schemas.openxmlformats.org/officeDocument/2006/relationships/notesMaster" Target="/ppt/notesMasters/notesMaster1.xml" Id="R0975938d0142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fe2031855f4742" /><Relationship Type="http://schemas.openxmlformats.org/officeDocument/2006/relationships/notesMaster" Target="/ppt/notesMasters/notesMaster1.xml" Id="Rd632515d081a4b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b236fe4a944e28" /><Relationship Type="http://schemas.openxmlformats.org/officeDocument/2006/relationships/notesMaster" Target="/ppt/notesMasters/notesMaster1.xml" Id="R2978acaa06db4f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b29ba6dc994ad7" /><Relationship Type="http://schemas.openxmlformats.org/officeDocument/2006/relationships/notesMaster" Target="/ppt/notesMasters/notesMaster1.xml" Id="R8c819eab4a764b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28db9ee3d14e87" /><Relationship Type="http://schemas.openxmlformats.org/officeDocument/2006/relationships/notesMaster" Target="/ppt/notesMasters/notesMaster1.xml" Id="Re50f01e637354b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c04febe1fa4191" /><Relationship Type="http://schemas.openxmlformats.org/officeDocument/2006/relationships/notesMaster" Target="/ppt/notesMasters/notesMaster1.xml" Id="Rc9b75594c8aa48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6bfbe4434f4b21" /><Relationship Type="http://schemas.openxmlformats.org/officeDocument/2006/relationships/notesMaster" Target="/ppt/notesMasters/notesMaster1.xml" Id="R08199bcffac04d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030a3682004480" /><Relationship Type="http://schemas.openxmlformats.org/officeDocument/2006/relationships/notesMaster" Target="/ppt/notesMasters/notesMaster1.xml" Id="R6266fb2beec94d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08e230b2b949f2" /><Relationship Type="http://schemas.openxmlformats.org/officeDocument/2006/relationships/notesMaster" Target="/ppt/notesMasters/notesMaster1.xml" Id="R318c084f819349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10a8cb83684060" /><Relationship Type="http://schemas.openxmlformats.org/officeDocument/2006/relationships/notesMaster" Target="/ppt/notesMasters/notesMaster1.xml" Id="R7d677b1bd8ab4d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(20s). Introduce the team and the decision: which intervention deserves a closer engineering study under limited capital? Our prototype supports a planner. No City deployment or field benefit claim. Replace the presenter/team names before the pitch.</a:t>
            </a:r>
          </a:p>
          <a:p xmlns:a="http://schemas.openxmlformats.org/drawingml/2006/main">
            <a:r>
              <a:t/>
            </a:r>
          </a:p>
          <a:p xmlns:a="http://schemas.openxmlformats.org/drawingml/2006/main">
            <a:r>
              <a:t>Sources:</a:t>
            </a:r>
          </a:p>
          <a:p xmlns:a="http://schemas.openxmlformats.org/drawingml/2006/main">
            <a:r>
              <a:t>organizer_docs/JUDGING_RUBRIC.md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0:20–0:50 (30s). Explain the proposed industrial customer and workflow gap. No firsthand expert validation has been established. Replace with a consented customer quote if obtained. Do not claim cities make arbitrary funding decisions. Upcoming canonical journeys: UJ1 Intervention and Prediction, UJ2 Dashboards, UJ3 External API and resource evidence.</a:t>
            </a:r>
          </a:p>
          <a:p xmlns:a="http://schemas.openxmlformats.org/drawingml/2006/main">
            <a:r>
              <a:t/>
            </a:r>
          </a:p>
          <a:p xmlns:a="http://schemas.openxmlformats.org/drawingml/2006/main">
            <a:r>
              <a:t>Sources:</a:t>
            </a:r>
          </a:p>
          <a:p xmlns:a="http://schemas.openxmlformats.org/drawingml/2006/main">
            <a:r>
              <a:t>organizer_docs/JUDGING_RUBRIC.md</a:t>
            </a:r>
          </a:p>
          <a:p xmlns:a="http://schemas.openxmlformats.org/drawingml/2006/main">
            <a:r>
              <a:t>docs/problem_statement.md</a:t>
            </a:r>
          </a:p>
          <a:p xmlns:a="http://schemas.openxmlformats.org/drawingml/2006/main">
            <a:r>
              <a:t>constitution/mission.md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0:50–1:20 (30s). Show observed data lineage. This figure describes the saved October3 dataset, not a live citywide total. The archive is described by the City as unofficial. Incident reports do not measure arrival flow. Daily 2024 volumes do not establish peak turning counts. Raw observed data stays distinct from derived features and assumed model inputs. New organizer3:26PM guidance rejects fictitious columns added to real data. Separately labeled simulation assumptions remain an eligibility clarification, not a verified exemption.</a:t>
            </a:r>
          </a:p>
          <a:p xmlns:a="http://schemas.openxmlformats.org/drawingml/2006/main">
            <a:r>
              <a:t/>
            </a:r>
          </a:p>
          <a:p xmlns:a="http://schemas.openxmlformats.org/drawingml/2006/main">
            <a:r>
              <a:t>Sources:</a:t>
            </a:r>
          </a:p>
          <a:p xmlns:a="http://schemas.openxmlformats.org/drawingml/2006/main">
            <a:r>
              <a:t>data/analysis/README.md</a:t>
            </a:r>
          </a:p>
          <a:p xmlns:a="http://schemas.openxmlformats.org/drawingml/2006/main">
            <a:r>
              <a:t>data/analysis/sources_manifest.json</a:t>
            </a:r>
          </a:p>
          <a:p xmlns:a="http://schemas.openxmlformats.org/drawingml/2006/main">
            <a:r>
              <a:t>organizer_docs/discord/updates-2026-10-03-evening.md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1:20–1:40 (20s). Explain the implemented architecture, not proposed infrastructure. Collector and API/MCP share application services over the same store. The domain owns policy, the SUMO adapter owns numerical simulation. Native diagram shapes and connectors remain editable. Source discovery for arbitrary cities is future work; do not present it as implemented.</a:t>
            </a:r>
          </a:p>
          <a:p xmlns:a="http://schemas.openxmlformats.org/drawingml/2006/main">
            <a:r>
              <a:t/>
            </a:r>
          </a:p>
          <a:p xmlns:a="http://schemas.openxmlformats.org/drawingml/2006/main">
            <a:r>
              <a:t>Sources:</a:t>
            </a:r>
          </a:p>
          <a:p xmlns:a="http://schemas.openxmlformats.org/drawingml/2006/main">
            <a:r>
              <a:t>docs/design/disruption-data/design.md</a:t>
            </a:r>
          </a:p>
          <a:p xmlns:a="http://schemas.openxmlformats.org/drawingml/2006/main">
            <a:r>
              <a:t>constitution/architecture.md</a:t>
            </a:r>
          </a:p>
          <a:p xmlns:a="http://schemas.openxmlformats.org/drawingml/2006/main">
            <a:r>
              <a:t>backend/app/api.py</a:t>
            </a:r>
          </a:p>
          <a:p xmlns:a="http://schemas.openxmlformats.org/drawingml/2006/main">
            <a:r>
              <a:t>backend/app/mcp_server.py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1:40–2:05 (25s). Show the actual action log. These are deterministic policy agents, not fabricated LLM dialogue or RL training. The rubric explicitly permits simulation, optimization and automatic rule revision. The revision must visibly depend on a failed constraint and measured simulator output.</a:t>
            </a:r>
          </a:p>
          <a:p xmlns:a="http://schemas.openxmlformats.org/drawingml/2006/main">
            <a:r>
              <a:t/>
            </a:r>
          </a:p>
          <a:p xmlns:a="http://schemas.openxmlformats.org/drawingml/2006/main">
            <a:r>
              <a:t>Sources:</a:t>
            </a:r>
          </a:p>
          <a:p xmlns:a="http://schemas.openxmlformats.org/drawingml/2006/main">
            <a:r>
              <a:t>organizer_docs/JUDGING_RUBRIC.md</a:t>
            </a:r>
          </a:p>
          <a:p xmlns:a="http://schemas.openxmlformats.org/drawingml/2006/main">
            <a:r>
              <a:t>backend/app/application/planner.py</a:t>
            </a:r>
          </a:p>
          <a:p xmlns:a="http://schemas.openxmlformats.org/drawingml/2006/main">
            <a:r>
              <a:t>backend/app/domain/evaluation.py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2:05–3:35 (90s). Switch to the running app. Rehearse one fixed scenario before the pitch; do not wait for a long simulation to finish. 1) Show the selected intersection and input assumptions. 2) Set budget and cross-street constraint. 3) Run or show the clearly labeled precomputed run. 4) Open action log to point to failed first proposal and automatic revision. 5) Read recommended and lowest-delay options and explain the rejection. 6) Export the real report. Replace [LIVE DEMO URL] in rehearsal notes and keep a private backup video/screenshots. A replay remains a replay. Current saved example run1099e73c uses a synthetic corridor standing in for Deerfoot/Glenmore, which is a freeway interchange; it does not validate a real signal intervention there. Prefer a matched signalized site after calibration.</a:t>
            </a:r>
          </a:p>
          <a:p xmlns:a="http://schemas.openxmlformats.org/drawingml/2006/main">
            <a:r>
              <a:t/>
            </a:r>
          </a:p>
          <a:p xmlns:a="http://schemas.openxmlformats.org/drawingml/2006/main">
            <a:r>
              <a:t>Sources:</a:t>
            </a:r>
          </a:p>
          <a:p xmlns:a="http://schemas.openxmlformats.org/drawingml/2006/main">
            <a:r>
              <a:t>docs/demo/demo_script.md</a:t>
            </a:r>
          </a:p>
          <a:p xmlns:a="http://schemas.openxmlformats.org/drawingml/2006/main">
            <a:r>
              <a:t>backend/app/application/study_summary.py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3:35–4:05 (30s). Recorded output retrieved from the running API on Oct3 at5:24PMMDT, run1099e73c93b943598aedbfe7bbc018e1. Mean delay includes SUMO timeLoss and departure delay according to app model. Revised6.0121%, assumedcapital15000CAD, cross+0.2426%. Firstproposal increases totaldelay24.3673% andcross58.0014%, above30%constraint. Extra lane49.7947%reduction but1200000CADabove100000budget. Values use weighted normal/incident conditions, three evaluationseeds. Replace this slide with the exact final rehearsed report, never silently treat priorrun aslive. Native chart data is editable. No measured Calgary field saving.</a:t>
            </a:r>
          </a:p>
          <a:p xmlns:a="http://schemas.openxmlformats.org/drawingml/2006/main">
            <a:r>
              <a:t/>
            </a:r>
          </a:p>
          <a:p xmlns:a="http://schemas.openxmlformats.org/drawingml/2006/main">
            <a:r>
              <a:t>Sources:</a:t>
            </a:r>
          </a:p>
          <a:p xmlns:a="http://schemas.openxmlformats.org/drawingml/2006/main">
            <a:r>
              <a:t>output/presentation/recorded_result.json</a:t>
            </a:r>
          </a:p>
          <a:p xmlns:a="http://schemas.openxmlformats.org/drawingml/2006/main">
            <a:r>
              <a:t>http://127.0.0.1:8008/api/jobs/1099e73c93b943598aedbfe7bbc018e1/report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4:05–5:00 (55s). Close with a plausible pilot, not a sales claim. Ask for an engineering partner to reproduce one existing corridor study. Customer pain, willingness to pay and subscription pricing remain hypotheses. [REPLACE: consented industry quote, role, date, pain confirmed.] [REPLACE: observed study preparation time and quoted pilot terms.] Three journeys: Intervention and Prediction supports candidate decisions; Dashboards supports monitoring/review; External API and resource evidence brings labor, materials and equipment constraints. Resource providers are not integrated. Unavailable verified labor may exclude construction, but alternative retiming still needs its own eligibility checks. Explain the bounded data contract and provider adapters as future work.</a:t>
            </a:r>
          </a:p>
          <a:p xmlns:a="http://schemas.openxmlformats.org/drawingml/2006/main">
            <a:r>
              <a:t/>
            </a:r>
          </a:p>
          <a:p xmlns:a="http://schemas.openxmlformats.org/drawingml/2006/main">
            <a:r>
              <a:t>Sources:</a:t>
            </a:r>
          </a:p>
          <a:p xmlns:a="http://schemas.openxmlformats.org/drawingml/2006/main">
            <a:r>
              <a:t>organizer_docs/JUDGING_RUBRIC.md</a:t>
            </a:r>
          </a:p>
          <a:p xmlns:a="http://schemas.openxmlformats.org/drawingml/2006/main">
            <a:r>
              <a:t>constitution/roadmap.md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appendix. Distinguish observed, derived, modeled, assumed and missing evidence without relying only on color. Costs must come from quotes or defensible estimates before a real capital recommendation. The collector runs configured Calgary adapters. General autonomous provider onboarding remains proposed. Missing data may withhold a decision rather than substituting invented measurements. Organizer eligibility clarification about labeled synthetic scenarios remains open.</a:t>
            </a:r>
          </a:p>
          <a:p xmlns:a="http://schemas.openxmlformats.org/drawingml/2006/main">
            <a:r>
              <a:t/>
            </a:r>
          </a:p>
          <a:p xmlns:a="http://schemas.openxmlformats.org/drawingml/2006/main">
            <a:r>
              <a:t>Sources:</a:t>
            </a:r>
          </a:p>
          <a:p xmlns:a="http://schemas.openxmlformats.org/drawingml/2006/main">
            <a:r>
              <a:t>data/analysis/README.md</a:t>
            </a:r>
          </a:p>
          <a:p xmlns:a="http://schemas.openxmlformats.org/drawingml/2006/main">
            <a:r>
              <a:t>docs/design/disruption-data/design.md</a:t>
            </a:r>
          </a:p>
          <a:p xmlns:a="http://schemas.openxmlformats.org/drawingml/2006/main">
            <a:r>
              <a:t>organizer_docs/discord/updates-2026-10-03-evening.md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Q&amp;A/preparation appendix, not part of the five-minute pitch. Keep placeholders editable and resolve before presentation. Theme mirrors the product tokens with a renderer-safe Liberation Sans font. New organizer guidance: starter optional, ElevenLabs optional prize category, customcase mustreceiveapproval, fictitious realdatasetcolumns rejected. This template doesnotclaimorganizeracceptance. [REPLACE: presentation URL] [REPLACE: repository URL] [REPLACE: teamhandles].</a:t>
            </a:r>
          </a:p>
          <a:p xmlns:a="http://schemas.openxmlformats.org/drawingml/2006/main">
            <a:r>
              <a:t/>
            </a:r>
          </a:p>
          <a:p xmlns:a="http://schemas.openxmlformats.org/drawingml/2006/main">
            <a:r>
              <a:t>Sources:</a:t>
            </a:r>
          </a:p>
          <a:p xmlns:a="http://schemas.openxmlformats.org/drawingml/2006/main">
            <a:r>
              <a:t>organizer_docs/JUDGING_RUBRIC.md</a:t>
            </a:r>
          </a:p>
          <a:p xmlns:a="http://schemas.openxmlformats.org/drawingml/2006/main">
            <a:r>
              <a:t>organizer_docs/SUBMISSIONS.md</a:t>
            </a:r>
          </a:p>
          <a:p xmlns:a="http://schemas.openxmlformats.org/drawingml/2006/main">
            <a:r>
              <a:t>organizer_docs/discord/updates-2026-10-03-evening.md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3168933c7149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bb32cc444f4bcd" /><Relationship Type="http://schemas.openxmlformats.org/officeDocument/2006/relationships/slideLayout" Target="/ppt/slideLayouts/slideLayout1.xml" Id="Rd2c6e7ccd5684f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c6e7ccd5684f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82cb9caa904c0a" /><Relationship Type="http://schemas.openxmlformats.org/officeDocument/2006/relationships/notesSlide" Target="/ppt/notesSlides/notesSlide1.xml" Id="Rca52e4b2c37f42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cc64214fb04548" /><Relationship Type="http://schemas.openxmlformats.org/officeDocument/2006/relationships/notesSlide" Target="/ppt/notesSlides/notesSlide2.xml" Id="R295183641a6c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818e3cacf04dca" /><Relationship Type="http://schemas.openxmlformats.org/officeDocument/2006/relationships/notesSlide" Target="/ppt/notesSlides/notesSlide3.xml" Id="Rf8290d8c17a2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8b7b7a15454559" /><Relationship Type="http://schemas.openxmlformats.org/officeDocument/2006/relationships/notesSlide" Target="/ppt/notesSlides/notesSlide4.xml" Id="Rcfc5f1dcd562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a0fc47b1d34cd2" /><Relationship Type="http://schemas.openxmlformats.org/officeDocument/2006/relationships/notesSlide" Target="/ppt/notesSlides/notesSlide5.xml" Id="R9fb614fc61b74e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f2a0cf3df74da5" /><Relationship Type="http://schemas.openxmlformats.org/officeDocument/2006/relationships/notesSlide" Target="/ppt/notesSlides/notesSlide6.xml" Id="R1ad51f06410544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cca8c9f12b4222" /><Relationship Type="http://schemas.openxmlformats.org/officeDocument/2006/relationships/chart" Target="/ppt/slides/charts/chart1.xml" Id="Ra3025b61ce254f3e" /><Relationship Type="http://schemas.openxmlformats.org/officeDocument/2006/relationships/notesSlide" Target="/ppt/notesSlides/notesSlide7.xml" Id="R65abe17efe054e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8b1aae625a4fb8" /><Relationship Type="http://schemas.openxmlformats.org/officeDocument/2006/relationships/notesSlide" Target="/ppt/notesSlides/notesSlide8.xml" Id="R63caa691cff049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cabd4a8d294d9b" /><Relationship Type="http://schemas.openxmlformats.org/officeDocument/2006/relationships/notesSlide" Target="/ppt/notesSlides/notesSlide9.xml" Id="R5d123645e9084f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388c86f80e4b51" /><Relationship Type="http://schemas.openxmlformats.org/officeDocument/2006/relationships/notesSlide" Target="/ppt/notesSlides/notesSlide10.xml" Id="R4828f391d49a416d"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650">
                <a:solidFill>
                  <a:srgbClr val="213B45"/>
                </a:solidFill>
                <a:latin typeface="Liberation Sans"/>
                <a:ea typeface="Liberation Sans"/>
                <a:cs typeface="Liberation Sans"/>
              </a:rPr>
              <a:t>Mean delay per vehicle (seconds)</a:t>
            </a:r>
          </a:p>
        </c:rich>
      </c:tx>
      <c:overlay val="0"/>
      <c:txPr>
        <a:bodyPr xmlns:a="http://schemas.openxmlformats.org/drawingml/2006/main" anchorCtr="1"/>
        <a:lstStyle xmlns:a="http://schemas.openxmlformats.org/drawingml/2006/main"/>
        <a:p xmlns:a="http://schemas.openxmlformats.org/drawingml/2006/main">
          <a:pPr>
            <a:defRPr sz="1650">
              <a:solidFill>
                <a:srgbClr val="213B45"/>
              </a:solidFill>
              <a:latin typeface="Liberation Sans"/>
              <a:ea typeface="Liberation Sans"/>
              <a:cs typeface="Liberation Sans"/>
            </a:defRPr>
          </a:pPr>
        </a:p>
      </c:txPr>
    </c:title>
    <c:plotArea>
      <c:barChart>
        <c:barDir val="bar"/>
        <c:grouping val="clustered"/>
        <c:varyColors val="0"/>
        <c:ser>
          <c:idx val="0"/>
          <c:order val="0"/>
          <c:tx>
            <c:v>Mean vehicle delay (s)</c:v>
          </c:tx>
          <c:spPr>
            <a:solidFill xmlns:a="http://schemas.openxmlformats.org/drawingml/2006/main">
              <a:srgbClr val="315F8B"/>
            </a:solidFill>
          </c:spPr>
          <c:cat>
            <c:strLit>
              <c:ptCount val="4"/>
              <c:pt idx="0">
                <c:v>Reference</c:v>
              </c:pt>
              <c:pt idx="1">
                <c:v>First proposal</c:v>
              </c:pt>
              <c:pt idx="2">
                <c:v>Revised plan</c:v>
              </c:pt>
              <c:pt idx="3">
                <c:v>Extra lane</c:v>
              </c:pt>
            </c:strLit>
          </c:cat>
          <c:val>
            <c:numLit>
              <c:formatCode>0.0</c:formatCode>
              <c:ptCount val="4"/>
              <c:pt idx="0">
                <c:v>207.7</c:v>
              </c:pt>
              <c:pt idx="1">
                <c:v>258.1</c:v>
              </c:pt>
              <c:pt idx="2">
                <c:v>195.1</c:v>
              </c:pt>
              <c:pt idx="3">
                <c:v>104.2</c:v>
              </c:pt>
            </c:numLit>
          </c:val>
        </c:ser>
        <c:dLbls>
          <c:txPr>
            <a:bodyPr xmlns:a="http://schemas.openxmlformats.org/drawingml/2006/main" anchorCtr="1"/>
            <a:lstStyle xmlns:a="http://schemas.openxmlformats.org/drawingml/2006/main"/>
            <a:p xmlns:a="http://schemas.openxmlformats.org/drawingml/2006/main">
              <a:pPr>
                <a:defRPr sz="1650">
                  <a:solidFill>
                    <a:srgbClr val="213B45"/>
                  </a:solidFill>
                  <a:latin typeface="Liberation Sans"/>
                  <a:ea typeface="Liberation Sans"/>
                  <a:cs typeface="Liberation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B75"/>
                </a:solidFill>
                <a:latin typeface="Liberation Sans"/>
                <a:ea typeface="Liberation Sans"/>
                <a:cs typeface="Liberation Sans"/>
              </a:defRPr>
            </a:pPr>
          </a:p>
        </c:txPr>
        <c:crossAx val="48672768"/>
      </c:catAx>
      <c:valAx>
        <c:axId val="48672768"/>
        <c:scaling>
          <c:orientation val="minMax"/>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B75"/>
                </a:solidFill>
                <a:latin typeface="Liberation Sans"/>
                <a:ea typeface="Liberation Sans"/>
                <a:cs typeface="Liberation San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AF4505-35C1-4D70-8C06-9472314748ED}"/>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Liberation Sans"/>
                <a:ea typeface="Liberation Sans"/>
                <a:cs typeface="Liberation Sans"/>
              </a:defRPr>
            </a:pPr>
            <a:r>
              <a:rPr sz="3450" b="1">
                <a:solidFill>
                  <a:srgbClr val="FFFFFF"/>
                </a:solidFill>
                <a:latin typeface="Liberation Sans"/>
                <a:ea typeface="Liberation Sans"/>
                <a:cs typeface="Liberation Sans"/>
              </a:rPr>
              <a:t>Bottleneck</a:t>
            </a:r>
          </a:p>
          <a:p xmlns:a="http://schemas.openxmlformats.org/drawingml/2006/main">
            <a:pPr>
              <a:defRPr sz="3450" b="1">
                <a:solidFill>
                  <a:srgbClr val="FFFFFF"/>
                </a:solidFill>
                <a:latin typeface="Liberation Sans"/>
                <a:ea typeface="Liberation Sans"/>
                <a:cs typeface="Liberation Sans"/>
              </a:defRPr>
            </a:pPr>
            <a:r>
              <a:rPr sz="3450" b="1">
                <a:solidFill>
                  <a:srgbClr val="FFFFFF"/>
                </a:solidFill>
                <a:latin typeface="Liberation Sans"/>
                <a:ea typeface="Liberation Sans"/>
                <a:cs typeface="Liberation Sans"/>
              </a:rPr>
              <a:t>Busters</a:t>
            </a:r>
          </a:p>
        </p:txBody>
      </p:sp>
      <p:sp>
        <p:nvSpPr>
          <p:cNvPr id="2" name="">
            <a:extLst xmlns:a="http://schemas.openxmlformats.org/drawingml/2006/main">
              <a:ext uri="{FF2B5EF4-FFF2-40B4-BE49-F238E27FC236}">
                <a16:creationId xmlns:a16="http://schemas.microsoft.com/office/drawing/2014/main" id="{060F6563-E719-4C4F-BC94-AAD8EA138DFA}"/>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5C5CB"/>
                </a:solidFill>
                <a:latin typeface="Liberation Sans"/>
                <a:ea typeface="Liberation Sans"/>
                <a:cs typeface="Liberation Sans"/>
              </a:defRPr>
            </a:pPr>
            <a:r>
              <a:rPr sz="1350" b="0">
                <a:solidFill>
                  <a:srgbClr val="B5C5CB"/>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9C317E7C-71D1-4AB7-A73C-213BF84CF9B3}"/>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5C5CB"/>
                </a:solidFill>
                <a:latin typeface="Liberation Sans"/>
                <a:ea typeface="Liberation Sans"/>
                <a:cs typeface="Liberation Sans"/>
              </a:defRPr>
            </a:pPr>
            <a:r>
              <a:rPr sz="1350" b="0">
                <a:solidFill>
                  <a:srgbClr val="B5C5CB"/>
                </a:solidFill>
                <a:latin typeface="Liberation Sans"/>
                <a:ea typeface="Liberation Sans"/>
                <a:cs typeface="Liberation Sans"/>
              </a:rPr>
              <a:t>01</a:t>
            </a:r>
          </a:p>
        </p:txBody>
      </p:sp>
      <p:sp>
        <p:nvSpPr>
          <p:cNvPr id="4" name="">
            <a:extLst xmlns:a="http://schemas.openxmlformats.org/drawingml/2006/main">
              <a:ext uri="{FF2B5EF4-FFF2-40B4-BE49-F238E27FC236}">
                <a16:creationId xmlns:a16="http://schemas.microsoft.com/office/drawing/2014/main" id="{B94DE4D8-8159-4E0C-845E-3D0C32EBEAA0}"/>
              </a:ext>
            </a:extLst>
          </p:cNvPr>
          <p:cNvSpPr>
            <a:spLocks xmlns:a="http://schemas.openxmlformats.org/drawingml/2006/main" noGrp="1"/>
          </p:cNvSpPr>
          <p:nvPr/>
        </p:nvSpPr>
        <p:spPr>
          <a:xfrm xmlns:a="http://schemas.openxmlformats.org/drawingml/2006/main">
            <a:off x="666750" y="2476500"/>
            <a:ext cx="904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Traffic intervention studies,</a:t>
            </a:r>
          </a:p>
          <a:p xmlns:a="http://schemas.openxmlformats.org/drawingml/2006/main">
            <a:pPr>
              <a:defRPr sz="3600" b="0">
                <a:solidFill>
                  <a:srgbClr val="FFFFFF"/>
                </a:solidFill>
                <a:latin typeface="Liberation Sans"/>
                <a:ea typeface="Liberation Sans"/>
                <a:cs typeface="Liberation Sans"/>
              </a:defRPr>
            </a:pPr>
            <a:r>
              <a:rPr sz="3600" b="0">
                <a:solidFill>
                  <a:srgbClr val="FFFFFF"/>
                </a:solidFill>
                <a:latin typeface="Liberation Sans"/>
                <a:ea typeface="Liberation Sans"/>
                <a:cs typeface="Liberation Sans"/>
              </a:rPr>
              <a:t>with decisions you can inspect</a:t>
            </a:r>
          </a:p>
        </p:txBody>
      </p:sp>
      <p:sp>
        <p:nvSpPr>
          <p:cNvPr id="5" name="">
            <a:extLst xmlns:a="http://schemas.openxmlformats.org/drawingml/2006/main">
              <a:ext uri="{FF2B5EF4-FFF2-40B4-BE49-F238E27FC236}">
                <a16:creationId xmlns:a16="http://schemas.microsoft.com/office/drawing/2014/main" id="{64D8A500-173F-4FCA-9924-AB32C512A0A6}"/>
              </a:ext>
            </a:extLst>
          </p:cNvPr>
          <p:cNvSpPr>
            <a:spLocks xmlns:a="http://schemas.openxmlformats.org/drawingml/2006/main" noGrp="1"/>
          </p:cNvSpPr>
          <p:nvPr/>
        </p:nvSpPr>
        <p:spPr>
          <a:xfrm xmlns:a="http://schemas.openxmlformats.org/drawingml/2006/main">
            <a:off x="666750" y="48387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5C5CB"/>
                </a:solidFill>
                <a:latin typeface="Liberation Sans"/>
                <a:ea typeface="Liberation Sans"/>
                <a:cs typeface="Liberation Sans"/>
              </a:defRPr>
            </a:pPr>
            <a:r>
              <a:rPr sz="1800" b="0">
                <a:solidFill>
                  <a:srgbClr val="B5C5CB"/>
                </a:solidFill>
                <a:latin typeface="Liberation Sans"/>
                <a:ea typeface="Liberation Sans"/>
                <a:cs typeface="Liberation Sans"/>
              </a:rPr>
              <a:t>Industry Hackathon 2026</a:t>
            </a:r>
          </a:p>
          <a:p xmlns:a="http://schemas.openxmlformats.org/drawingml/2006/main">
            <a:pPr>
              <a:defRPr sz="1800" b="0">
                <a:solidFill>
                  <a:srgbClr val="B5C5CB"/>
                </a:solidFill>
                <a:latin typeface="Liberation Sans"/>
                <a:ea typeface="Liberation Sans"/>
                <a:cs typeface="Liberation Sans"/>
              </a:defRPr>
            </a:pPr>
            <a:r>
              <a:rPr sz="1800" b="0">
                <a:solidFill>
                  <a:srgbClr val="B5C5CB"/>
                </a:solidFill>
                <a:latin typeface="Liberation Sans"/>
                <a:ea typeface="Liberation Sans"/>
                <a:cs typeface="Liberation Sans"/>
              </a:rPr>
              <a:t>Energy and Infrastructure Systems</a:t>
            </a:r>
          </a:p>
        </p:txBody>
      </p:sp>
    </p:spTree>
    <p:extLst>
      <p:ext uri="{BB962C8B-B14F-4D97-AF65-F5344CB8AC3E}">
        <p14:creationId xmlns:p14="http://schemas.microsoft.com/office/powerpoint/2010/main" val="5889599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C05587-DE7D-4BC1-A577-48DE527B17BE}"/>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The planner’s decision</a:t>
            </a:r>
          </a:p>
        </p:txBody>
      </p:sp>
      <p:sp>
        <p:nvSpPr>
          <p:cNvPr id="2" name="">
            <a:extLst xmlns:a="http://schemas.openxmlformats.org/drawingml/2006/main">
              <a:ext uri="{FF2B5EF4-FFF2-40B4-BE49-F238E27FC236}">
                <a16:creationId xmlns:a16="http://schemas.microsoft.com/office/drawing/2014/main" id="{91B2FB60-FC95-49FA-946E-E4B868A7BF2C}"/>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4A55CE18-CA15-4B39-A57D-6A57D2549E4A}"/>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02</a:t>
            </a:r>
          </a:p>
        </p:txBody>
      </p:sp>
      <p:sp>
        <p:nvSpPr>
          <p:cNvPr id="4" name="">
            <a:extLst xmlns:a="http://schemas.openxmlformats.org/drawingml/2006/main">
              <a:ext uri="{FF2B5EF4-FFF2-40B4-BE49-F238E27FC236}">
                <a16:creationId xmlns:a16="http://schemas.microsoft.com/office/drawing/2014/main" id="{A17498A9-086C-4B48-BCE5-031BF0F98D3A}"/>
              </a:ext>
            </a:extLst>
          </p:cNvPr>
          <p:cNvSpPr>
            <a:spLocks xmlns:a="http://schemas.openxmlformats.org/drawingml/2006/main" noGrp="1"/>
          </p:cNvSpPr>
          <p:nvPr/>
        </p:nvSpPr>
        <p:spPr>
          <a:xfrm xmlns:a="http://schemas.openxmlformats.org/drawingml/2006/main">
            <a:off x="647700" y="1809750"/>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B36"/>
                </a:solidFill>
                <a:latin typeface="Liberation Sans"/>
                <a:ea typeface="Liberation Sans"/>
                <a:cs typeface="Liberation Sans"/>
              </a:defRPr>
            </a:pPr>
            <a:r>
              <a:rPr sz="3600" b="1">
                <a:solidFill>
                  <a:srgbClr val="102B36"/>
                </a:solidFill>
                <a:latin typeface="Liberation Sans"/>
                <a:ea typeface="Liberation Sans"/>
                <a:cs typeface="Liberation Sans"/>
              </a:rPr>
              <a:t>Which intervention fits</a:t>
            </a:r>
          </a:p>
          <a:p xmlns:a="http://schemas.openxmlformats.org/drawingml/2006/main">
            <a:pPr>
              <a:defRPr sz="3600" b="1">
                <a:solidFill>
                  <a:srgbClr val="102B36"/>
                </a:solidFill>
                <a:latin typeface="Liberation Sans"/>
                <a:ea typeface="Liberation Sans"/>
                <a:cs typeface="Liberation Sans"/>
              </a:defRPr>
            </a:pPr>
            <a:r>
              <a:rPr sz="3600" b="1">
                <a:solidFill>
                  <a:srgbClr val="102B36"/>
                </a:solidFill>
                <a:latin typeface="Liberation Sans"/>
                <a:ea typeface="Liberation Sans"/>
                <a:cs typeface="Liberation Sans"/>
              </a:rPr>
              <a:t>the budget and the corridor?</a:t>
            </a:r>
          </a:p>
        </p:txBody>
      </p:sp>
      <p:sp>
        <p:nvSpPr>
          <p:cNvPr id="5" name="">
            <a:extLst xmlns:a="http://schemas.openxmlformats.org/drawingml/2006/main">
              <a:ext uri="{FF2B5EF4-FFF2-40B4-BE49-F238E27FC236}">
                <a16:creationId xmlns:a16="http://schemas.microsoft.com/office/drawing/2014/main" id="{9FDA46C9-51BB-4955-8356-1DE03132A47E}"/>
              </a:ext>
            </a:extLst>
          </p:cNvPr>
          <p:cNvSpPr>
            <a:spLocks xmlns:a="http://schemas.openxmlformats.org/drawingml/2006/main" noGrp="1"/>
          </p:cNvSpPr>
          <p:nvPr/>
        </p:nvSpPr>
        <p:spPr>
          <a:xfrm xmlns:a="http://schemas.openxmlformats.org/drawingml/2006/main">
            <a:off x="647700" y="33528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13B45"/>
                </a:solidFill>
                <a:latin typeface="Liberation Sans"/>
                <a:ea typeface="Liberation Sans"/>
                <a:cs typeface="Liberation Sans"/>
              </a:defRPr>
            </a:pPr>
            <a:r>
              <a:rPr sz="2025" b="0">
                <a:solidFill>
                  <a:srgbClr val="213B45"/>
                </a:solidFill>
                <a:latin typeface="Liberation Sans"/>
                <a:ea typeface="Liberation Sans"/>
                <a:cs typeface="Liberation Sans"/>
              </a:rPr>
              <a:t>Ideal user: municipal transportation planner or consultant engineer.</a:t>
            </a:r>
          </a:p>
          <a:p xmlns:a="http://schemas.openxmlformats.org/drawingml/2006/main">
            <a:pPr>
              <a:defRPr sz="2025" b="0">
                <a:solidFill>
                  <a:srgbClr val="213B45"/>
                </a:solidFill>
                <a:latin typeface="Liberation Sans"/>
                <a:ea typeface="Liberation Sans"/>
                <a:cs typeface="Liberation Sans"/>
              </a:defRPr>
            </a:pPr>
            <a:r>
              <a:rPr sz="2025" b="0">
                <a:solidFill>
                  <a:srgbClr val="213B45"/>
                </a:solidFill>
                <a:latin typeface="Liberation Sans"/>
                <a:ea typeface="Liberation Sans"/>
                <a:cs typeface="Liberation Sans"/>
              </a:rPr>
              <a:t>Reviewer: program manager responsible for capital spending.</a:t>
            </a:r>
          </a:p>
        </p:txBody>
      </p:sp>
      <p:sp>
        <p:nvSpPr>
          <p:cNvPr id="6" name="">
            <a:extLst xmlns:a="http://schemas.openxmlformats.org/drawingml/2006/main">
              <a:ext uri="{FF2B5EF4-FFF2-40B4-BE49-F238E27FC236}">
                <a16:creationId xmlns:a16="http://schemas.microsoft.com/office/drawing/2014/main" id="{7CFB221B-BB52-4D6A-9322-D526AF0FB400}"/>
              </a:ext>
            </a:extLst>
          </p:cNvPr>
          <p:cNvSpPr>
            <a:spLocks xmlns:a="http://schemas.openxmlformats.org/drawingml/2006/main" noGrp="1"/>
          </p:cNvSpPr>
          <p:nvPr/>
        </p:nvSpPr>
        <p:spPr>
          <a:xfrm xmlns:a="http://schemas.openxmlformats.org/drawingml/2006/main">
            <a:off x="647700" y="46863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5"/>
                </a:solidFill>
                <a:latin typeface="Liberation Sans"/>
                <a:ea typeface="Liberation Sans"/>
                <a:cs typeface="Liberation Sans"/>
              </a:defRPr>
            </a:pPr>
            <a:r>
              <a:rPr sz="1875" b="0">
                <a:solidFill>
                  <a:srgbClr val="526B75"/>
                </a:solidFill>
                <a:latin typeface="Liberation Sans"/>
                <a:ea typeface="Liberation Sans"/>
                <a:cs typeface="Liberation Sans"/>
              </a:rPr>
              <a:t>Product hypothesis: faster preparation, comparison and evidence review.</a:t>
            </a:r>
          </a:p>
          <a:p xmlns:a="http://schemas.openxmlformats.org/drawingml/2006/main">
            <a:pPr>
              <a:defRPr sz="1875" b="0">
                <a:solidFill>
                  <a:srgbClr val="526B75"/>
                </a:solidFill>
                <a:latin typeface="Liberation Sans"/>
                <a:ea typeface="Liberation Sans"/>
                <a:cs typeface="Liberation Sans"/>
              </a:defRPr>
            </a:pPr>
            <a:r>
              <a:rPr sz="1875" b="0">
                <a:solidFill>
                  <a:srgbClr val="526B75"/>
                </a:solidFill>
                <a:latin typeface="Liberation Sans"/>
                <a:ea typeface="Liberation Sans"/>
                <a:cs typeface="Liberation Sans"/>
              </a:rPr>
              <a:t>Existing engineering tools already support traffic studies.</a:t>
            </a:r>
          </a:p>
        </p:txBody>
      </p:sp>
    </p:spTree>
    <p:extLst>
      <p:ext uri="{BB962C8B-B14F-4D97-AF65-F5344CB8AC3E}">
        <p14:creationId xmlns:p14="http://schemas.microsoft.com/office/powerpoint/2010/main" val="19334411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F481D4-14F4-4C72-B47E-1BCF353C0C84}"/>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Calgary data and its limits</a:t>
            </a:r>
          </a:p>
        </p:txBody>
      </p:sp>
      <p:sp>
        <p:nvSpPr>
          <p:cNvPr id="2" name="">
            <a:extLst xmlns:a="http://schemas.openxmlformats.org/drawingml/2006/main">
              <a:ext uri="{FF2B5EF4-FFF2-40B4-BE49-F238E27FC236}">
                <a16:creationId xmlns:a16="http://schemas.microsoft.com/office/drawing/2014/main" id="{F21AB0F3-EE49-46E5-8EB4-C4905070E527}"/>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93AAFBA0-0637-4388-BCCE-479200D3E036}"/>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03</a:t>
            </a:r>
          </a:p>
        </p:txBody>
      </p:sp>
      <p:sp>
        <p:nvSpPr>
          <p:cNvPr id="4" name="">
            <a:extLst xmlns:a="http://schemas.openxmlformats.org/drawingml/2006/main">
              <a:ext uri="{FF2B5EF4-FFF2-40B4-BE49-F238E27FC236}">
                <a16:creationId xmlns:a16="http://schemas.microsoft.com/office/drawing/2014/main" id="{DD65C857-D97F-4C15-852C-2FF5DF41694D}"/>
              </a:ext>
            </a:extLst>
          </p:cNvPr>
          <p:cNvSpPr>
            <a:spLocks xmlns:a="http://schemas.openxmlformats.org/drawingml/2006/main" noGrp="1"/>
          </p:cNvSpPr>
          <p:nvPr/>
        </p:nvSpPr>
        <p:spPr>
          <a:xfrm xmlns:a="http://schemas.openxmlformats.org/drawingml/2006/main">
            <a:off x="647700" y="1657350"/>
            <a:ext cx="371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4674F"/>
                </a:solidFill>
                <a:latin typeface="Liberation Sans"/>
                <a:ea typeface="Liberation Sans"/>
                <a:cs typeface="Liberation Sans"/>
              </a:defRPr>
            </a:pPr>
            <a:r>
              <a:rPr sz="5700" b="1">
                <a:solidFill>
                  <a:srgbClr val="24674F"/>
                </a:solidFill>
                <a:latin typeface="Liberation Sans"/>
                <a:ea typeface="Liberation Sans"/>
                <a:cs typeface="Liberation Sans"/>
              </a:rPr>
              <a:t>3,987</a:t>
            </a:r>
          </a:p>
        </p:txBody>
      </p:sp>
      <p:sp>
        <p:nvSpPr>
          <p:cNvPr id="5" name="">
            <a:extLst xmlns:a="http://schemas.openxmlformats.org/drawingml/2006/main">
              <a:ext uri="{FF2B5EF4-FFF2-40B4-BE49-F238E27FC236}">
                <a16:creationId xmlns:a16="http://schemas.microsoft.com/office/drawing/2014/main" id="{BE644BB8-C412-4D3A-8A9A-1F5A4DBCF827}"/>
              </a:ext>
            </a:extLst>
          </p:cNvPr>
          <p:cNvSpPr>
            <a:spLocks xmlns:a="http://schemas.openxmlformats.org/drawingml/2006/main" noGrp="1"/>
          </p:cNvSpPr>
          <p:nvPr/>
        </p:nvSpPr>
        <p:spPr>
          <a:xfrm xmlns:a="http://schemas.openxmlformats.org/drawingml/2006/main">
            <a:off x="666750" y="2619375"/>
            <a:ext cx="962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13B45"/>
                </a:solidFill>
                <a:latin typeface="Liberation Sans"/>
                <a:ea typeface="Liberation Sans"/>
                <a:cs typeface="Liberation Sans"/>
              </a:defRPr>
            </a:pPr>
            <a:r>
              <a:rPr sz="2100" b="0">
                <a:solidFill>
                  <a:srgbClr val="213B45"/>
                </a:solidFill>
                <a:latin typeface="Liberation Sans"/>
                <a:ea typeface="Liberation Sans"/>
                <a:cs typeface="Liberation Sans"/>
              </a:rPr>
              <a:t>reported incidents in the saved six-month dataset</a:t>
            </a:r>
          </a:p>
        </p:txBody>
      </p:sp>
      <p:graphicFrame>
        <p:nvGraphicFramePr>
          <p:cNvPr id="12" name=""/>
          <p:cNvGraphicFramePr/>
          <p:nvPr/>
        </p:nvGraphicFramePr>
        <p:xfrm>
          <a:off xmlns:a="http://schemas.openxmlformats.org/drawingml/2006/main" x="647700" y="3429000"/>
          <a:ext xmlns:a="http://schemas.openxmlformats.org/drawingml/2006/main" cx="10896600" cy="2247900"/>
        </p:xfrm>
        <a:graphic xmlns:a="http://schemas.openxmlformats.org/drawingml/2006/main">
          <a:graphicData uri="http://schemas.openxmlformats.org/drawingml/2006/table">
            <a:tbl>
              <a:tblPr/>
              <a:tblGrid>
                <a:gridCol w="4429125"/>
                <a:gridCol w="6467475"/>
              </a:tblGrid>
              <a:tr h="561975">
                <a:tc>
                  <a:txBody>
                    <a:bodyPr/>
                    <a:lstStyle/>
                    <a:p>
                      <a:r>
                        <a:rPr sz="1800" b="1">
                          <a:solidFill>
                            <a:srgbClr val="FFFFFF"/>
                          </a:solidFill>
                          <a:latin typeface="Liberation Sans"/>
                          <a:ea typeface="Liberation Sans"/>
                          <a:cs typeface="Liberation Sans"/>
                        </a:rPr>
                        <a:t>Evidence</a:t>
                      </a:r>
                    </a:p>
                  </a:txBody>
                  <a:tcPr marL="152400" marR="152400" marT="114300" marB="114300">
                    <a:solidFill>
                      <a:srgbClr val="102B36"/>
                    </a:solidFill>
                  </a:tcPr>
                </a:tc>
                <a:tc>
                  <a:txBody>
                    <a:bodyPr/>
                    <a:lstStyle/>
                    <a:p>
                      <a:r>
                        <a:rPr sz="1800" b="1">
                          <a:solidFill>
                            <a:srgbClr val="FFFFFF"/>
                          </a:solidFill>
                          <a:latin typeface="Liberation Sans"/>
                          <a:ea typeface="Liberation Sans"/>
                          <a:cs typeface="Liberation Sans"/>
                        </a:rPr>
                        <a:t>How the prototype uses it</a:t>
                      </a:r>
                    </a:p>
                  </a:txBody>
                  <a:tcPr marL="152400" marR="152400" marT="114300" marB="114300">
                    <a:solidFill>
                      <a:srgbClr val="102B36"/>
                    </a:solidFill>
                  </a:tcPr>
                </a:tc>
              </a:tr>
              <a:tr h="561975">
                <a:tc>
                  <a:txBody>
                    <a:bodyPr/>
                    <a:lstStyle/>
                    <a:p>
                      <a:r>
                        <a:rPr sz="1800">
                          <a:solidFill>
                            <a:srgbClr val="213B45"/>
                          </a:solidFill>
                          <a:latin typeface="Liberation Sans"/>
                          <a:ea typeface="Liberation Sans"/>
                          <a:cs typeface="Liberation Sans"/>
                        </a:rPr>
                        <a:t>City incidents and closures</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Study context and incident conditions</a:t>
                      </a:r>
                    </a:p>
                  </a:txBody>
                  <a:tcPr marL="152400" marR="152400" marT="114300" marB="114300">
                    <a:solidFill>
                      <a:srgbClr val="FFFFFF"/>
                    </a:solidFill>
                  </a:tcPr>
                </a:tc>
              </a:tr>
              <a:tr h="561975">
                <a:tc>
                  <a:txBody>
                    <a:bodyPr/>
                    <a:lstStyle/>
                    <a:p>
                      <a:r>
                        <a:rPr sz="1800">
                          <a:solidFill>
                            <a:srgbClr val="213B45"/>
                          </a:solidFill>
                          <a:latin typeface="Liberation Sans"/>
                          <a:ea typeface="Liberation Sans"/>
                          <a:cs typeface="Liberation Sans"/>
                        </a:rPr>
                        <a:t>Signals, volumes, travel times</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Location context and observed segment signals</a:t>
                      </a:r>
                    </a:p>
                  </a:txBody>
                  <a:tcPr marL="152400" marR="152400" marT="114300" marB="114300">
                    <a:solidFill>
                      <a:srgbClr val="FFFFFF"/>
                    </a:solidFill>
                  </a:tcPr>
                </a:tc>
              </a:tr>
              <a:tr h="561975">
                <a:tc>
                  <a:txBody>
                    <a:bodyPr/>
                    <a:lstStyle/>
                    <a:p>
                      <a:r>
                        <a:rPr sz="1800">
                          <a:solidFill>
                            <a:srgbClr val="213B45"/>
                          </a:solidFill>
                          <a:latin typeface="Liberation Sans"/>
                          <a:ea typeface="Liberation Sans"/>
                          <a:cs typeface="Liberation Sans"/>
                        </a:rPr>
                        <a:t>Synthetic geometry and derived demand</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Explicit model inputs, with calibration pending</a:t>
                      </a:r>
                    </a:p>
                  </a:txBody>
                  <a:tcPr marL="152400" marR="152400" marT="114300" marB="114300">
                    <a:solidFill>
                      <a:srgbClr val="FFFFFF"/>
                    </a:solidFill>
                  </a:tcPr>
                </a:tc>
              </a:tr>
            </a:tbl>
          </a:graphicData>
        </a:graphic>
      </p:graphicFrame>
    </p:spTree>
    <p:extLst>
      <p:ext uri="{BB962C8B-B14F-4D97-AF65-F5344CB8AC3E}">
        <p14:creationId xmlns:p14="http://schemas.microsoft.com/office/powerpoint/2010/main" val="16060413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60314B9-8065-40B3-8747-B72C92DACA75}"/>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Running architecture</a:t>
            </a:r>
          </a:p>
        </p:txBody>
      </p:sp>
      <p:sp>
        <p:nvSpPr>
          <p:cNvPr id="2" name="">
            <a:extLst xmlns:a="http://schemas.openxmlformats.org/drawingml/2006/main">
              <a:ext uri="{FF2B5EF4-FFF2-40B4-BE49-F238E27FC236}">
                <a16:creationId xmlns:a16="http://schemas.microsoft.com/office/drawing/2014/main" id="{936DEACD-D015-4212-8074-9702730BA589}"/>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92E02A28-5321-48D5-96B7-FDF106448A86}"/>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04</a:t>
            </a:r>
          </a:p>
        </p:txBody>
      </p:sp>
      <p:sp>
        <p:nvSpPr>
          <p:cNvPr id="4" name="">
            <a:extLst xmlns:a="http://schemas.openxmlformats.org/drawingml/2006/main">
              <a:ext uri="{FF2B5EF4-FFF2-40B4-BE49-F238E27FC236}">
                <a16:creationId xmlns:a16="http://schemas.microsoft.com/office/drawing/2014/main" id="{09D5324E-9406-47C3-93DB-9301188001FF}"/>
              </a:ext>
            </a:extLst>
          </p:cNvPr>
          <p:cNvSpPr>
            <a:spLocks xmlns:a="http://schemas.openxmlformats.org/drawingml/2006/main" noGrp="1"/>
          </p:cNvSpPr>
          <p:nvPr/>
        </p:nvSpPr>
        <p:spPr>
          <a:xfrm xmlns:a="http://schemas.openxmlformats.org/drawingml/2006/main">
            <a:off x="647700" y="1762125"/>
            <a:ext cx="228600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5" name="">
            <a:extLst xmlns:a="http://schemas.openxmlformats.org/drawingml/2006/main">
              <a:ext uri="{FF2B5EF4-FFF2-40B4-BE49-F238E27FC236}">
                <a16:creationId xmlns:a16="http://schemas.microsoft.com/office/drawing/2014/main" id="{ABC0C4A7-23B6-444A-973D-BEBCD8225766}"/>
              </a:ext>
            </a:extLst>
          </p:cNvPr>
          <p:cNvSpPr>
            <a:spLocks xmlns:a="http://schemas.openxmlformats.org/drawingml/2006/main" noGrp="1"/>
          </p:cNvSpPr>
          <p:nvPr/>
        </p:nvSpPr>
        <p:spPr>
          <a:xfrm xmlns:a="http://schemas.openxmlformats.org/drawingml/2006/main">
            <a:off x="781050" y="1905000"/>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City datasets</a:t>
            </a:r>
          </a:p>
        </p:txBody>
      </p:sp>
      <p:sp>
        <p:nvSpPr>
          <p:cNvPr id="6" name="">
            <a:extLst xmlns:a="http://schemas.openxmlformats.org/drawingml/2006/main">
              <a:ext uri="{FF2B5EF4-FFF2-40B4-BE49-F238E27FC236}">
                <a16:creationId xmlns:a16="http://schemas.microsoft.com/office/drawing/2014/main" id="{7F585D7C-F679-49E0-9581-490C3D5F3322}"/>
              </a:ext>
            </a:extLst>
          </p:cNvPr>
          <p:cNvSpPr>
            <a:spLocks xmlns:a="http://schemas.openxmlformats.org/drawingml/2006/main" noGrp="1"/>
          </p:cNvSpPr>
          <p:nvPr/>
        </p:nvSpPr>
        <p:spPr>
          <a:xfrm xmlns:a="http://schemas.openxmlformats.org/drawingml/2006/main">
            <a:off x="781050" y="2286000"/>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HTTPS datasets</a:t>
            </a:r>
          </a:p>
        </p:txBody>
      </p:sp>
      <p:sp>
        <p:nvSpPr>
          <p:cNvPr id="7" name="">
            <a:extLst xmlns:a="http://schemas.openxmlformats.org/drawingml/2006/main">
              <a:ext uri="{FF2B5EF4-FFF2-40B4-BE49-F238E27FC236}">
                <a16:creationId xmlns:a16="http://schemas.microsoft.com/office/drawing/2014/main" id="{9AFCA935-F64B-4B8A-BC06-90FEA554E897}"/>
              </a:ext>
            </a:extLst>
          </p:cNvPr>
          <p:cNvSpPr>
            <a:spLocks xmlns:a="http://schemas.openxmlformats.org/drawingml/2006/main" noGrp="1"/>
          </p:cNvSpPr>
          <p:nvPr/>
        </p:nvSpPr>
        <p:spPr>
          <a:xfrm xmlns:a="http://schemas.openxmlformats.org/drawingml/2006/main">
            <a:off x="3571875" y="1762125"/>
            <a:ext cx="247650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8" name="">
            <a:extLst xmlns:a="http://schemas.openxmlformats.org/drawingml/2006/main">
              <a:ext uri="{FF2B5EF4-FFF2-40B4-BE49-F238E27FC236}">
                <a16:creationId xmlns:a16="http://schemas.microsoft.com/office/drawing/2014/main" id="{C8403475-F366-47E9-AC61-767C399F57E0}"/>
              </a:ext>
            </a:extLst>
          </p:cNvPr>
          <p:cNvSpPr>
            <a:spLocks xmlns:a="http://schemas.openxmlformats.org/drawingml/2006/main" noGrp="1"/>
          </p:cNvSpPr>
          <p:nvPr/>
        </p:nvSpPr>
        <p:spPr>
          <a:xfrm xmlns:a="http://schemas.openxmlformats.org/drawingml/2006/main">
            <a:off x="3705225" y="1905000"/>
            <a:ext cx="220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Python collector</a:t>
            </a:r>
          </a:p>
        </p:txBody>
      </p:sp>
      <p:sp>
        <p:nvSpPr>
          <p:cNvPr id="9" name="">
            <a:extLst xmlns:a="http://schemas.openxmlformats.org/drawingml/2006/main">
              <a:ext uri="{FF2B5EF4-FFF2-40B4-BE49-F238E27FC236}">
                <a16:creationId xmlns:a16="http://schemas.microsoft.com/office/drawing/2014/main" id="{FA19E91A-3B85-4F42-B671-D8A8CFD9E8E6}"/>
              </a:ext>
            </a:extLst>
          </p:cNvPr>
          <p:cNvSpPr>
            <a:spLocks xmlns:a="http://schemas.openxmlformats.org/drawingml/2006/main" noGrp="1"/>
          </p:cNvSpPr>
          <p:nvPr/>
        </p:nvSpPr>
        <p:spPr>
          <a:xfrm xmlns:a="http://schemas.openxmlformats.org/drawingml/2006/main">
            <a:off x="3705225" y="2286000"/>
            <a:ext cx="2209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Poll, retry, parse, audit</a:t>
            </a:r>
          </a:p>
        </p:txBody>
      </p:sp>
      <p:sp>
        <p:nvSpPr>
          <p:cNvPr id="10" name="">
            <a:extLst xmlns:a="http://schemas.openxmlformats.org/drawingml/2006/main">
              <a:ext uri="{FF2B5EF4-FFF2-40B4-BE49-F238E27FC236}">
                <a16:creationId xmlns:a16="http://schemas.microsoft.com/office/drawing/2014/main" id="{A415D055-8B43-4D8A-8E4F-C9E34108087E}"/>
              </a:ext>
            </a:extLst>
          </p:cNvPr>
          <p:cNvSpPr>
            <a:spLocks xmlns:a="http://schemas.openxmlformats.org/drawingml/2006/main" noGrp="1"/>
          </p:cNvSpPr>
          <p:nvPr/>
        </p:nvSpPr>
        <p:spPr>
          <a:xfrm xmlns:a="http://schemas.openxmlformats.org/drawingml/2006/main">
            <a:off x="6858000" y="1762125"/>
            <a:ext cx="276225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1" name="">
            <a:extLst xmlns:a="http://schemas.openxmlformats.org/drawingml/2006/main">
              <a:ext uri="{FF2B5EF4-FFF2-40B4-BE49-F238E27FC236}">
                <a16:creationId xmlns:a16="http://schemas.microsoft.com/office/drawing/2014/main" id="{A2956306-8766-4025-8A8E-26C3B41E610F}"/>
              </a:ext>
            </a:extLst>
          </p:cNvPr>
          <p:cNvSpPr>
            <a:spLocks xmlns:a="http://schemas.openxmlformats.org/drawingml/2006/main" noGrp="1"/>
          </p:cNvSpPr>
          <p:nvPr/>
        </p:nvSpPr>
        <p:spPr>
          <a:xfrm xmlns:a="http://schemas.openxmlformats.org/drawingml/2006/main">
            <a:off x="6991350" y="1905000"/>
            <a:ext cx="249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SQLite store</a:t>
            </a:r>
          </a:p>
        </p:txBody>
      </p:sp>
      <p:sp>
        <p:nvSpPr>
          <p:cNvPr id="12" name="">
            <a:extLst xmlns:a="http://schemas.openxmlformats.org/drawingml/2006/main">
              <a:ext uri="{FF2B5EF4-FFF2-40B4-BE49-F238E27FC236}">
                <a16:creationId xmlns:a16="http://schemas.microsoft.com/office/drawing/2014/main" id="{622BC3DF-908F-4A4A-BDA8-22A881A5088B}"/>
              </a:ext>
            </a:extLst>
          </p:cNvPr>
          <p:cNvSpPr>
            <a:spLocks xmlns:a="http://schemas.openxmlformats.org/drawingml/2006/main" noGrp="1"/>
          </p:cNvSpPr>
          <p:nvPr/>
        </p:nvSpPr>
        <p:spPr>
          <a:xfrm xmlns:a="http://schemas.openxmlformats.org/drawingml/2006/main">
            <a:off x="6991350" y="2286000"/>
            <a:ext cx="2495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Sources and study history</a:t>
            </a:r>
          </a:p>
        </p:txBody>
      </p:sp>
      <p:sp>
        <p:nvSpPr>
          <p:cNvPr id="13" name="">
            <a:extLst xmlns:a="http://schemas.openxmlformats.org/drawingml/2006/main">
              <a:ext uri="{FF2B5EF4-FFF2-40B4-BE49-F238E27FC236}">
                <a16:creationId xmlns:a16="http://schemas.microsoft.com/office/drawing/2014/main" id="{14FBFB10-77CE-4382-A5F8-41B6E087D561}"/>
              </a:ext>
            </a:extLst>
          </p:cNvPr>
          <p:cNvSpPr>
            <a:spLocks xmlns:a="http://schemas.openxmlformats.org/drawingml/2006/main" noGrp="1"/>
          </p:cNvSpPr>
          <p:nvPr/>
        </p:nvSpPr>
        <p:spPr>
          <a:xfrm xmlns:a="http://schemas.openxmlformats.org/drawingml/2006/main">
            <a:off x="3571875" y="3619500"/>
            <a:ext cx="285750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4" name="">
            <a:extLst xmlns:a="http://schemas.openxmlformats.org/drawingml/2006/main">
              <a:ext uri="{FF2B5EF4-FFF2-40B4-BE49-F238E27FC236}">
                <a16:creationId xmlns:a16="http://schemas.microsoft.com/office/drawing/2014/main" id="{72C3EFA0-0752-43BB-AC39-11CB2010DA9F}"/>
              </a:ext>
            </a:extLst>
          </p:cNvPr>
          <p:cNvSpPr>
            <a:spLocks xmlns:a="http://schemas.openxmlformats.org/drawingml/2006/main" noGrp="1"/>
          </p:cNvSpPr>
          <p:nvPr/>
        </p:nvSpPr>
        <p:spPr>
          <a:xfrm xmlns:a="http://schemas.openxmlformats.org/drawingml/2006/main">
            <a:off x="3705225" y="3762375"/>
            <a:ext cx="2590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FastAPI + MCP</a:t>
            </a:r>
          </a:p>
        </p:txBody>
      </p:sp>
      <p:sp>
        <p:nvSpPr>
          <p:cNvPr id="15" name="">
            <a:extLst xmlns:a="http://schemas.openxmlformats.org/drawingml/2006/main">
              <a:ext uri="{FF2B5EF4-FFF2-40B4-BE49-F238E27FC236}">
                <a16:creationId xmlns:a16="http://schemas.microsoft.com/office/drawing/2014/main" id="{923194A1-7DF5-4E0B-8068-86E5A15757E8}"/>
              </a:ext>
            </a:extLst>
          </p:cNvPr>
          <p:cNvSpPr>
            <a:spLocks xmlns:a="http://schemas.openxmlformats.org/drawingml/2006/main" noGrp="1"/>
          </p:cNvSpPr>
          <p:nvPr/>
        </p:nvSpPr>
        <p:spPr>
          <a:xfrm xmlns:a="http://schemas.openxmlformats.org/drawingml/2006/main">
            <a:off x="3705225" y="4143375"/>
            <a:ext cx="2590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Shared application services</a:t>
            </a:r>
          </a:p>
        </p:txBody>
      </p:sp>
      <p:sp>
        <p:nvSpPr>
          <p:cNvPr id="16" name="">
            <a:extLst xmlns:a="http://schemas.openxmlformats.org/drawingml/2006/main">
              <a:ext uri="{FF2B5EF4-FFF2-40B4-BE49-F238E27FC236}">
                <a16:creationId xmlns:a16="http://schemas.microsoft.com/office/drawing/2014/main" id="{4E213533-022D-48B1-B36F-5BC41C478083}"/>
              </a:ext>
            </a:extLst>
          </p:cNvPr>
          <p:cNvSpPr>
            <a:spLocks xmlns:a="http://schemas.openxmlformats.org/drawingml/2006/main" noGrp="1"/>
          </p:cNvSpPr>
          <p:nvPr/>
        </p:nvSpPr>
        <p:spPr>
          <a:xfrm xmlns:a="http://schemas.openxmlformats.org/drawingml/2006/main">
            <a:off x="647700" y="3619500"/>
            <a:ext cx="228600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7" name="">
            <a:extLst xmlns:a="http://schemas.openxmlformats.org/drawingml/2006/main">
              <a:ext uri="{FF2B5EF4-FFF2-40B4-BE49-F238E27FC236}">
                <a16:creationId xmlns:a16="http://schemas.microsoft.com/office/drawing/2014/main" id="{4CC92237-CBF8-4F35-AE1C-2C5C9569E897}"/>
              </a:ext>
            </a:extLst>
          </p:cNvPr>
          <p:cNvSpPr>
            <a:spLocks xmlns:a="http://schemas.openxmlformats.org/drawingml/2006/main" noGrp="1"/>
          </p:cNvSpPr>
          <p:nvPr/>
        </p:nvSpPr>
        <p:spPr>
          <a:xfrm xmlns:a="http://schemas.openxmlformats.org/drawingml/2006/main">
            <a:off x="781050" y="3762375"/>
            <a:ext cx="2019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React web client</a:t>
            </a:r>
          </a:p>
        </p:txBody>
      </p:sp>
      <p:sp>
        <p:nvSpPr>
          <p:cNvPr id="18" name="">
            <a:extLst xmlns:a="http://schemas.openxmlformats.org/drawingml/2006/main">
              <a:ext uri="{FF2B5EF4-FFF2-40B4-BE49-F238E27FC236}">
                <a16:creationId xmlns:a16="http://schemas.microsoft.com/office/drawing/2014/main" id="{9D5502E7-33F9-4773-BE62-69A4E1E0BB5E}"/>
              </a:ext>
            </a:extLst>
          </p:cNvPr>
          <p:cNvSpPr>
            <a:spLocks xmlns:a="http://schemas.openxmlformats.org/drawingml/2006/main" noGrp="1"/>
          </p:cNvSpPr>
          <p:nvPr/>
        </p:nvSpPr>
        <p:spPr>
          <a:xfrm xmlns:a="http://schemas.openxmlformats.org/drawingml/2006/main">
            <a:off x="781050" y="4143375"/>
            <a:ext cx="2019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Planner study and review</a:t>
            </a:r>
          </a:p>
        </p:txBody>
      </p:sp>
      <p:sp>
        <p:nvSpPr>
          <p:cNvPr id="19" name="">
            <a:extLst xmlns:a="http://schemas.openxmlformats.org/drawingml/2006/main">
              <a:ext uri="{FF2B5EF4-FFF2-40B4-BE49-F238E27FC236}">
                <a16:creationId xmlns:a16="http://schemas.microsoft.com/office/drawing/2014/main" id="{78024685-8872-4AA0-9116-87948175202F}"/>
              </a:ext>
            </a:extLst>
          </p:cNvPr>
          <p:cNvSpPr>
            <a:spLocks xmlns:a="http://schemas.openxmlformats.org/drawingml/2006/main" noGrp="1"/>
          </p:cNvSpPr>
          <p:nvPr/>
        </p:nvSpPr>
        <p:spPr>
          <a:xfrm xmlns:a="http://schemas.openxmlformats.org/drawingml/2006/main">
            <a:off x="7810500" y="3619500"/>
            <a:ext cx="2952750" cy="1047750"/>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20" name="">
            <a:extLst xmlns:a="http://schemas.openxmlformats.org/drawingml/2006/main">
              <a:ext uri="{FF2B5EF4-FFF2-40B4-BE49-F238E27FC236}">
                <a16:creationId xmlns:a16="http://schemas.microsoft.com/office/drawing/2014/main" id="{0285C4DA-BBA9-4668-BC1E-B9CC4B309ED1}"/>
              </a:ext>
            </a:extLst>
          </p:cNvPr>
          <p:cNvSpPr>
            <a:spLocks xmlns:a="http://schemas.openxmlformats.org/drawingml/2006/main" noGrp="1"/>
          </p:cNvSpPr>
          <p:nvPr/>
        </p:nvSpPr>
        <p:spPr>
          <a:xfrm xmlns:a="http://schemas.openxmlformats.org/drawingml/2006/main">
            <a:off x="7943850" y="3762375"/>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SUMO adapter</a:t>
            </a:r>
          </a:p>
        </p:txBody>
      </p:sp>
      <p:sp>
        <p:nvSpPr>
          <p:cNvPr id="21" name="">
            <a:extLst xmlns:a="http://schemas.openxmlformats.org/drawingml/2006/main">
              <a:ext uri="{FF2B5EF4-FFF2-40B4-BE49-F238E27FC236}">
                <a16:creationId xmlns:a16="http://schemas.microsoft.com/office/drawing/2014/main" id="{8FAF97C0-78AE-403D-BADD-1B7C6CAF028D}"/>
              </a:ext>
            </a:extLst>
          </p:cNvPr>
          <p:cNvSpPr>
            <a:spLocks xmlns:a="http://schemas.openxmlformats.org/drawingml/2006/main" noGrp="1"/>
          </p:cNvSpPr>
          <p:nvPr/>
        </p:nvSpPr>
        <p:spPr>
          <a:xfrm xmlns:a="http://schemas.openxmlformats.org/drawingml/2006/main">
            <a:off x="7943850" y="4143375"/>
            <a:ext cx="26860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Actual modeled trial metrics</a:t>
            </a:r>
          </a:p>
        </p:txBody>
      </p:sp>
      <p:cxnSp>
        <p:nvCxnSpPr>
          <p:cNvPr id="49" name=""/>
          <p:cNvCxnSpPr>
            <a:stCxn xmlns:a="http://schemas.openxmlformats.org/drawingml/2006/main" id="4" idx="3"/>
            <a:endCxn xmlns:a="http://schemas.openxmlformats.org/drawingml/2006/main" id="7" idx="1"/>
          </p:cNvCxnSpPr>
          <p:nvPr/>
        </p:nvCxnSpPr>
        <p:spPr>
          <a:xfrm xmlns:a="http://schemas.openxmlformats.org/drawingml/2006/main">
            <a:off x="2933700" y="2286000"/>
            <a:ext cx="638175"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50" name=""/>
          <p:cNvCxnSpPr>
            <a:stCxn xmlns:a="http://schemas.openxmlformats.org/drawingml/2006/main" id="7" idx="3"/>
            <a:endCxn xmlns:a="http://schemas.openxmlformats.org/drawingml/2006/main" id="10" idx="1"/>
          </p:cNvCxnSpPr>
          <p:nvPr/>
        </p:nvCxnSpPr>
        <p:spPr>
          <a:xfrm xmlns:a="http://schemas.openxmlformats.org/drawingml/2006/main">
            <a:off x="6048375" y="2286000"/>
            <a:ext cx="809625"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51" name=""/>
          <p:cNvCxnSpPr>
            <a:stCxn xmlns:a="http://schemas.openxmlformats.org/drawingml/2006/main" id="10" idx="2"/>
            <a:endCxn xmlns:a="http://schemas.openxmlformats.org/drawingml/2006/main" id="13" idx="0"/>
          </p:cNvCxnSpPr>
          <p:nvPr/>
        </p:nvCxnSpPr>
        <p:spPr>
          <a:xfrm xmlns:a="http://schemas.openxmlformats.org/drawingml/2006/main" flipH="1">
            <a:off x="5000625" y="2809875"/>
            <a:ext cx="3238500" cy="809625"/>
          </a:xfrm>
          <a:prstGeom xmlns:a="http://schemas.openxmlformats.org/drawingml/2006/main" prst="bentConnector4">
            <a:avLst>
              <a:gd name="adj1" fmla="val 0"/>
              <a:gd name="adj2" fmla="val 50000"/>
            </a:avLst>
          </a:prstGeom>
          <a:ln xmlns:a="http://schemas.openxmlformats.org/drawingml/2006/main" w="19050">
            <a:solidFill>
              <a:srgbClr val="73868E"/>
            </a:solidFill>
            <a:tailEnd type="triangle" w="sm" len="sm"/>
          </a:ln>
        </p:spPr>
      </p:cxnSp>
      <p:cxnSp>
        <p:nvCxnSpPr>
          <p:cNvPr id="52" name=""/>
          <p:cNvCxnSpPr>
            <a:stCxn xmlns:a="http://schemas.openxmlformats.org/drawingml/2006/main" id="16" idx="3"/>
            <a:endCxn xmlns:a="http://schemas.openxmlformats.org/drawingml/2006/main" id="13" idx="1"/>
          </p:cNvCxnSpPr>
          <p:nvPr/>
        </p:nvCxnSpPr>
        <p:spPr>
          <a:xfrm xmlns:a="http://schemas.openxmlformats.org/drawingml/2006/main">
            <a:off x="2933700" y="4143375"/>
            <a:ext cx="638175"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53" name=""/>
          <p:cNvCxnSpPr>
            <a:stCxn xmlns:a="http://schemas.openxmlformats.org/drawingml/2006/main" id="13" idx="3"/>
            <a:endCxn xmlns:a="http://schemas.openxmlformats.org/drawingml/2006/main" id="19" idx="1"/>
          </p:cNvCxnSpPr>
          <p:nvPr/>
        </p:nvCxnSpPr>
        <p:spPr>
          <a:xfrm xmlns:a="http://schemas.openxmlformats.org/drawingml/2006/main">
            <a:off x="6429375" y="4143375"/>
            <a:ext cx="1381125" cy="0"/>
          </a:xfrm>
          <a:prstGeom xmlns:a="http://schemas.openxmlformats.org/drawingml/2006/main" prst="straightConnector1">
            <a:avLst/>
          </a:prstGeom>
          <a:ln xmlns:a="http://schemas.openxmlformats.org/drawingml/2006/main" w="19050">
            <a:solidFill>
              <a:srgbClr val="73868E"/>
            </a:solidFill>
            <a:tailEnd type="triangle" w="sm" len="sm"/>
          </a:ln>
        </p:spPr>
      </p:cxnSp>
      <p:sp>
        <p:nvSpPr>
          <p:cNvPr id="27" name="">
            <a:extLst xmlns:a="http://schemas.openxmlformats.org/drawingml/2006/main">
              <a:ext uri="{FF2B5EF4-FFF2-40B4-BE49-F238E27FC236}">
                <a16:creationId xmlns:a16="http://schemas.microsoft.com/office/drawing/2014/main" id="{951FA2B8-2A0D-48AD-B9F7-FC8CBABD8F66}"/>
              </a:ext>
            </a:extLst>
          </p:cNvPr>
          <p:cNvSpPr>
            <a:spLocks xmlns:a="http://schemas.openxmlformats.org/drawingml/2006/main" noGrp="1"/>
          </p:cNvSpPr>
          <p:nvPr/>
        </p:nvSpPr>
        <p:spPr>
          <a:xfrm xmlns:a="http://schemas.openxmlformats.org/drawingml/2006/main">
            <a:off x="647700" y="52387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5"/>
                </a:solidFill>
                <a:latin typeface="Liberation Sans"/>
                <a:ea typeface="Liberation Sans"/>
                <a:cs typeface="Liberation Sans"/>
              </a:defRPr>
            </a:pPr>
            <a:r>
              <a:rPr sz="1800" b="0">
                <a:solidFill>
                  <a:srgbClr val="526B75"/>
                </a:solidFill>
                <a:latin typeface="Liberation Sans"/>
                <a:ea typeface="Liberation Sans"/>
                <a:cs typeface="Liberation Sans"/>
              </a:rPr>
              <a:t>Domain policies stay independent of the UI, database and simulator.</a:t>
            </a:r>
          </a:p>
          <a:p xmlns:a="http://schemas.openxmlformats.org/drawingml/2006/main">
            <a:pPr>
              <a:defRPr sz="1800" b="0">
                <a:solidFill>
                  <a:srgbClr val="526B75"/>
                </a:solidFill>
                <a:latin typeface="Liberation Sans"/>
                <a:ea typeface="Liberation Sans"/>
                <a:cs typeface="Liberation Sans"/>
              </a:defRPr>
            </a:pPr>
            <a:r>
              <a:rPr sz="1800" b="0">
                <a:solidFill>
                  <a:srgbClr val="526B75"/>
                </a:solidFill>
                <a:latin typeface="Liberation Sans"/>
                <a:ea typeface="Liberation Sans"/>
                <a:cs typeface="Liberation Sans"/>
              </a:rPr>
              <a:t>TimescaleDB is a target. The running store uses SQLite.</a:t>
            </a:r>
          </a:p>
        </p:txBody>
      </p:sp>
    </p:spTree>
    <p:extLst>
      <p:ext uri="{BB962C8B-B14F-4D97-AF65-F5344CB8AC3E}">
        <p14:creationId xmlns:p14="http://schemas.microsoft.com/office/powerpoint/2010/main" val="8181448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E2D14CB-4CFF-44B6-A73E-F4F0DC94BCA8}"/>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Autonomous decision and revision</a:t>
            </a:r>
          </a:p>
        </p:txBody>
      </p:sp>
      <p:sp>
        <p:nvSpPr>
          <p:cNvPr id="2" name="">
            <a:extLst xmlns:a="http://schemas.openxmlformats.org/drawingml/2006/main">
              <a:ext uri="{FF2B5EF4-FFF2-40B4-BE49-F238E27FC236}">
                <a16:creationId xmlns:a16="http://schemas.microsoft.com/office/drawing/2014/main" id="{9DA19D40-43C4-4CD6-BC45-A03A3466FB76}"/>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BD83B5ED-6179-4382-93D7-0CCC835A40EA}"/>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05</a:t>
            </a:r>
          </a:p>
        </p:txBody>
      </p:sp>
      <p:sp>
        <p:nvSpPr>
          <p:cNvPr id="4" name="">
            <a:extLst xmlns:a="http://schemas.openxmlformats.org/drawingml/2006/main">
              <a:ext uri="{FF2B5EF4-FFF2-40B4-BE49-F238E27FC236}">
                <a16:creationId xmlns:a16="http://schemas.microsoft.com/office/drawing/2014/main" id="{86C448EC-06E8-4EE6-AB74-41751DAF301F}"/>
              </a:ext>
            </a:extLst>
          </p:cNvPr>
          <p:cNvSpPr>
            <a:spLocks xmlns:a="http://schemas.openxmlformats.org/drawingml/2006/main" noGrp="1"/>
          </p:cNvSpPr>
          <p:nvPr/>
        </p:nvSpPr>
        <p:spPr>
          <a:xfrm xmlns:a="http://schemas.openxmlformats.org/drawingml/2006/main">
            <a:off x="647700" y="2047875"/>
            <a:ext cx="1952625" cy="1190625"/>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5" name="">
            <a:extLst xmlns:a="http://schemas.openxmlformats.org/drawingml/2006/main">
              <a:ext uri="{FF2B5EF4-FFF2-40B4-BE49-F238E27FC236}">
                <a16:creationId xmlns:a16="http://schemas.microsoft.com/office/drawing/2014/main" id="{52638E1D-E347-44F4-9BEA-3FD23A58086A}"/>
              </a:ext>
            </a:extLst>
          </p:cNvPr>
          <p:cNvSpPr>
            <a:spLocks xmlns:a="http://schemas.openxmlformats.org/drawingml/2006/main" noGrp="1"/>
          </p:cNvSpPr>
          <p:nvPr/>
        </p:nvSpPr>
        <p:spPr>
          <a:xfrm xmlns:a="http://schemas.openxmlformats.org/drawingml/2006/main">
            <a:off x="781050" y="21907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Inspect</a:t>
            </a:r>
          </a:p>
        </p:txBody>
      </p:sp>
      <p:sp>
        <p:nvSpPr>
          <p:cNvPr id="6" name="">
            <a:extLst xmlns:a="http://schemas.openxmlformats.org/drawingml/2006/main">
              <a:ext uri="{FF2B5EF4-FFF2-40B4-BE49-F238E27FC236}">
                <a16:creationId xmlns:a16="http://schemas.microsoft.com/office/drawing/2014/main" id="{2AE4685E-629B-487D-93DE-FB2753965242}"/>
              </a:ext>
            </a:extLst>
          </p:cNvPr>
          <p:cNvSpPr>
            <a:spLocks xmlns:a="http://schemas.openxmlformats.org/drawingml/2006/main" noGrp="1"/>
          </p:cNvSpPr>
          <p:nvPr/>
        </p:nvSpPr>
        <p:spPr>
          <a:xfrm xmlns:a="http://schemas.openxmlformats.org/drawingml/2006/main">
            <a:off x="781050" y="2571750"/>
            <a:ext cx="1685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Check source + assumptions</a:t>
            </a:r>
          </a:p>
        </p:txBody>
      </p:sp>
      <p:sp>
        <p:nvSpPr>
          <p:cNvPr id="7" name="">
            <a:extLst xmlns:a="http://schemas.openxmlformats.org/drawingml/2006/main">
              <a:ext uri="{FF2B5EF4-FFF2-40B4-BE49-F238E27FC236}">
                <a16:creationId xmlns:a16="http://schemas.microsoft.com/office/drawing/2014/main" id="{3A2C5D21-0782-4978-8266-67DA0B6A9171}"/>
              </a:ext>
            </a:extLst>
          </p:cNvPr>
          <p:cNvSpPr>
            <a:spLocks xmlns:a="http://schemas.openxmlformats.org/drawingml/2006/main" noGrp="1"/>
          </p:cNvSpPr>
          <p:nvPr/>
        </p:nvSpPr>
        <p:spPr>
          <a:xfrm xmlns:a="http://schemas.openxmlformats.org/drawingml/2006/main">
            <a:off x="2905125" y="2047875"/>
            <a:ext cx="1952625" cy="1190625"/>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8" name="">
            <a:extLst xmlns:a="http://schemas.openxmlformats.org/drawingml/2006/main">
              <a:ext uri="{FF2B5EF4-FFF2-40B4-BE49-F238E27FC236}">
                <a16:creationId xmlns:a16="http://schemas.microsoft.com/office/drawing/2014/main" id="{9112D448-4571-4E61-8811-27DAE8815F1E}"/>
              </a:ext>
            </a:extLst>
          </p:cNvPr>
          <p:cNvSpPr>
            <a:spLocks xmlns:a="http://schemas.openxmlformats.org/drawingml/2006/main" noGrp="1"/>
          </p:cNvSpPr>
          <p:nvPr/>
        </p:nvSpPr>
        <p:spPr>
          <a:xfrm xmlns:a="http://schemas.openxmlformats.org/drawingml/2006/main">
            <a:off x="3038475" y="21907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Propose</a:t>
            </a:r>
          </a:p>
        </p:txBody>
      </p:sp>
      <p:sp>
        <p:nvSpPr>
          <p:cNvPr id="9" name="">
            <a:extLst xmlns:a="http://schemas.openxmlformats.org/drawingml/2006/main">
              <a:ext uri="{FF2B5EF4-FFF2-40B4-BE49-F238E27FC236}">
                <a16:creationId xmlns:a16="http://schemas.microsoft.com/office/drawing/2014/main" id="{0FDB6955-B9F1-4C27-A148-1B354978CFEE}"/>
              </a:ext>
            </a:extLst>
          </p:cNvPr>
          <p:cNvSpPr>
            <a:spLocks xmlns:a="http://schemas.openxmlformats.org/drawingml/2006/main" noGrp="1"/>
          </p:cNvSpPr>
          <p:nvPr/>
        </p:nvSpPr>
        <p:spPr>
          <a:xfrm xmlns:a="http://schemas.openxmlformats.org/drawingml/2006/main">
            <a:off x="3038475" y="2571750"/>
            <a:ext cx="1685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Bounded options</a:t>
            </a:r>
          </a:p>
        </p:txBody>
      </p:sp>
      <p:sp>
        <p:nvSpPr>
          <p:cNvPr id="10" name="">
            <a:extLst xmlns:a="http://schemas.openxmlformats.org/drawingml/2006/main">
              <a:ext uri="{FF2B5EF4-FFF2-40B4-BE49-F238E27FC236}">
                <a16:creationId xmlns:a16="http://schemas.microsoft.com/office/drawing/2014/main" id="{903311B6-7A77-4EE1-B695-CD264134FBAC}"/>
              </a:ext>
            </a:extLst>
          </p:cNvPr>
          <p:cNvSpPr>
            <a:spLocks xmlns:a="http://schemas.openxmlformats.org/drawingml/2006/main" noGrp="1"/>
          </p:cNvSpPr>
          <p:nvPr/>
        </p:nvSpPr>
        <p:spPr>
          <a:xfrm xmlns:a="http://schemas.openxmlformats.org/drawingml/2006/main">
            <a:off x="5162550" y="2047875"/>
            <a:ext cx="1952625" cy="1190625"/>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1" name="">
            <a:extLst xmlns:a="http://schemas.openxmlformats.org/drawingml/2006/main">
              <a:ext uri="{FF2B5EF4-FFF2-40B4-BE49-F238E27FC236}">
                <a16:creationId xmlns:a16="http://schemas.microsoft.com/office/drawing/2014/main" id="{C8541D35-B9BE-452A-BAFC-FEB5B691B0B0}"/>
              </a:ext>
            </a:extLst>
          </p:cNvPr>
          <p:cNvSpPr>
            <a:spLocks xmlns:a="http://schemas.openxmlformats.org/drawingml/2006/main" noGrp="1"/>
          </p:cNvSpPr>
          <p:nvPr/>
        </p:nvSpPr>
        <p:spPr>
          <a:xfrm xmlns:a="http://schemas.openxmlformats.org/drawingml/2006/main">
            <a:off x="5295900" y="21907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Simulate</a:t>
            </a:r>
          </a:p>
        </p:txBody>
      </p:sp>
      <p:sp>
        <p:nvSpPr>
          <p:cNvPr id="12" name="">
            <a:extLst xmlns:a="http://schemas.openxmlformats.org/drawingml/2006/main">
              <a:ext uri="{FF2B5EF4-FFF2-40B4-BE49-F238E27FC236}">
                <a16:creationId xmlns:a16="http://schemas.microsoft.com/office/drawing/2014/main" id="{31E7BE79-381A-4A96-8234-520069CAFCAC}"/>
              </a:ext>
            </a:extLst>
          </p:cNvPr>
          <p:cNvSpPr>
            <a:spLocks xmlns:a="http://schemas.openxmlformats.org/drawingml/2006/main" noGrp="1"/>
          </p:cNvSpPr>
          <p:nvPr/>
        </p:nvSpPr>
        <p:spPr>
          <a:xfrm xmlns:a="http://schemas.openxmlformats.org/drawingml/2006/main">
            <a:off x="5295900" y="2571750"/>
            <a:ext cx="1685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Compare with reference</a:t>
            </a:r>
          </a:p>
        </p:txBody>
      </p:sp>
      <p:sp>
        <p:nvSpPr>
          <p:cNvPr id="13" name="">
            <a:extLst xmlns:a="http://schemas.openxmlformats.org/drawingml/2006/main">
              <a:ext uri="{FF2B5EF4-FFF2-40B4-BE49-F238E27FC236}">
                <a16:creationId xmlns:a16="http://schemas.microsoft.com/office/drawing/2014/main" id="{DC3C61FC-0C68-4312-AF7F-4F036CDC5CD4}"/>
              </a:ext>
            </a:extLst>
          </p:cNvPr>
          <p:cNvSpPr>
            <a:spLocks xmlns:a="http://schemas.openxmlformats.org/drawingml/2006/main" noGrp="1"/>
          </p:cNvSpPr>
          <p:nvPr/>
        </p:nvSpPr>
        <p:spPr>
          <a:xfrm xmlns:a="http://schemas.openxmlformats.org/drawingml/2006/main">
            <a:off x="7419975" y="2047875"/>
            <a:ext cx="1952625" cy="1190625"/>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4" name="">
            <a:extLst xmlns:a="http://schemas.openxmlformats.org/drawingml/2006/main">
              <a:ext uri="{FF2B5EF4-FFF2-40B4-BE49-F238E27FC236}">
                <a16:creationId xmlns:a16="http://schemas.microsoft.com/office/drawing/2014/main" id="{FDF7BE4D-AB3C-4D05-AC4F-1D8E04B15DF8}"/>
              </a:ext>
            </a:extLst>
          </p:cNvPr>
          <p:cNvSpPr>
            <a:spLocks xmlns:a="http://schemas.openxmlformats.org/drawingml/2006/main" noGrp="1"/>
          </p:cNvSpPr>
          <p:nvPr/>
        </p:nvSpPr>
        <p:spPr>
          <a:xfrm xmlns:a="http://schemas.openxmlformats.org/drawingml/2006/main">
            <a:off x="7553325" y="21907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Evaluate</a:t>
            </a:r>
          </a:p>
        </p:txBody>
      </p:sp>
      <p:sp>
        <p:nvSpPr>
          <p:cNvPr id="15" name="">
            <a:extLst xmlns:a="http://schemas.openxmlformats.org/drawingml/2006/main">
              <a:ext uri="{FF2B5EF4-FFF2-40B4-BE49-F238E27FC236}">
                <a16:creationId xmlns:a16="http://schemas.microsoft.com/office/drawing/2014/main" id="{77C1666B-6348-41A6-9B7E-BCBF2E80CDB7}"/>
              </a:ext>
            </a:extLst>
          </p:cNvPr>
          <p:cNvSpPr>
            <a:spLocks xmlns:a="http://schemas.openxmlformats.org/drawingml/2006/main" noGrp="1"/>
          </p:cNvSpPr>
          <p:nvPr/>
        </p:nvSpPr>
        <p:spPr>
          <a:xfrm xmlns:a="http://schemas.openxmlformats.org/drawingml/2006/main">
            <a:off x="7553325" y="2571750"/>
            <a:ext cx="1685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Budget + cross-street rule</a:t>
            </a:r>
          </a:p>
        </p:txBody>
      </p:sp>
      <p:sp>
        <p:nvSpPr>
          <p:cNvPr id="16" name="">
            <a:extLst xmlns:a="http://schemas.openxmlformats.org/drawingml/2006/main">
              <a:ext uri="{FF2B5EF4-FFF2-40B4-BE49-F238E27FC236}">
                <a16:creationId xmlns:a16="http://schemas.microsoft.com/office/drawing/2014/main" id="{316474CB-BD79-43AA-88E5-1F5C0BA6796D}"/>
              </a:ext>
            </a:extLst>
          </p:cNvPr>
          <p:cNvSpPr>
            <a:spLocks xmlns:a="http://schemas.openxmlformats.org/drawingml/2006/main" noGrp="1"/>
          </p:cNvSpPr>
          <p:nvPr/>
        </p:nvSpPr>
        <p:spPr>
          <a:xfrm xmlns:a="http://schemas.openxmlformats.org/drawingml/2006/main">
            <a:off x="9677400" y="2047875"/>
            <a:ext cx="1857375" cy="1190625"/>
          </a:xfrm>
          <a:prstGeom xmlns:a="http://schemas.openxmlformats.org/drawingml/2006/main" prst="rect">
            <a:avLst/>
          </a:prstGeom>
          <a:solidFill xmlns:a="http://schemas.openxmlformats.org/drawingml/2006/main">
            <a:srgbClr val="EDF3F5"/>
          </a:solidFill>
          <a:ln xmlns:a="http://schemas.openxmlformats.org/drawingml/2006/main" w="9525">
            <a:solidFill>
              <a:srgbClr val="DCE5E8"/>
            </a:solidFill>
          </a:ln>
        </p:spPr>
      </p:sp>
      <p:sp>
        <p:nvSpPr>
          <p:cNvPr id="17" name="">
            <a:extLst xmlns:a="http://schemas.openxmlformats.org/drawingml/2006/main">
              <a:ext uri="{FF2B5EF4-FFF2-40B4-BE49-F238E27FC236}">
                <a16:creationId xmlns:a16="http://schemas.microsoft.com/office/drawing/2014/main" id="{C6738CE2-12AA-483F-90F0-03CF4888EC91}"/>
              </a:ext>
            </a:extLst>
          </p:cNvPr>
          <p:cNvSpPr>
            <a:spLocks xmlns:a="http://schemas.openxmlformats.org/drawingml/2006/main" noGrp="1"/>
          </p:cNvSpPr>
          <p:nvPr/>
        </p:nvSpPr>
        <p:spPr>
          <a:xfrm xmlns:a="http://schemas.openxmlformats.org/drawingml/2006/main">
            <a:off x="9810750" y="2190750"/>
            <a:ext cx="1590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2B36"/>
                </a:solidFill>
                <a:latin typeface="Liberation Sans"/>
                <a:ea typeface="Liberation Sans"/>
                <a:cs typeface="Liberation Sans"/>
              </a:defRPr>
            </a:pPr>
            <a:r>
              <a:rPr sz="1800" b="1">
                <a:solidFill>
                  <a:srgbClr val="102B36"/>
                </a:solidFill>
                <a:latin typeface="Liberation Sans"/>
                <a:ea typeface="Liberation Sans"/>
                <a:cs typeface="Liberation Sans"/>
              </a:rPr>
              <a:t>Revise</a:t>
            </a:r>
          </a:p>
        </p:txBody>
      </p:sp>
      <p:sp>
        <p:nvSpPr>
          <p:cNvPr id="18" name="">
            <a:extLst xmlns:a="http://schemas.openxmlformats.org/drawingml/2006/main">
              <a:ext uri="{FF2B5EF4-FFF2-40B4-BE49-F238E27FC236}">
                <a16:creationId xmlns:a16="http://schemas.microsoft.com/office/drawing/2014/main" id="{B19681D6-8B22-47BF-A972-E7A89B10C04D}"/>
              </a:ext>
            </a:extLst>
          </p:cNvPr>
          <p:cNvSpPr>
            <a:spLocks xmlns:a="http://schemas.openxmlformats.org/drawingml/2006/main" noGrp="1"/>
          </p:cNvSpPr>
          <p:nvPr/>
        </p:nvSpPr>
        <p:spPr>
          <a:xfrm xmlns:a="http://schemas.openxmlformats.org/drawingml/2006/main">
            <a:off x="9810750" y="2571750"/>
            <a:ext cx="1590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5"/>
                </a:solidFill>
                <a:latin typeface="Liberation Sans"/>
                <a:ea typeface="Liberation Sans"/>
                <a:cs typeface="Liberation Sans"/>
              </a:defRPr>
            </a:pPr>
            <a:r>
              <a:rPr sz="1575" b="0">
                <a:solidFill>
                  <a:srgbClr val="526B75"/>
                </a:solidFill>
                <a:latin typeface="Liberation Sans"/>
                <a:ea typeface="Liberation Sans"/>
                <a:cs typeface="Liberation Sans"/>
              </a:rPr>
              <a:t>Retest signal split</a:t>
            </a:r>
          </a:p>
        </p:txBody>
      </p:sp>
      <p:cxnSp>
        <p:nvCxnSpPr>
          <p:cNvPr id="43" name=""/>
          <p:cNvCxnSpPr>
            <a:stCxn xmlns:a="http://schemas.openxmlformats.org/drawingml/2006/main" id="4" idx="3"/>
            <a:endCxn xmlns:a="http://schemas.openxmlformats.org/drawingml/2006/main" id="7" idx="1"/>
          </p:cNvCxnSpPr>
          <p:nvPr/>
        </p:nvCxnSpPr>
        <p:spPr>
          <a:xfrm xmlns:a="http://schemas.openxmlformats.org/drawingml/2006/main">
            <a:off x="2600325" y="2643188"/>
            <a:ext cx="304800"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44" name=""/>
          <p:cNvCxnSpPr>
            <a:stCxn xmlns:a="http://schemas.openxmlformats.org/drawingml/2006/main" id="7" idx="3"/>
            <a:endCxn xmlns:a="http://schemas.openxmlformats.org/drawingml/2006/main" id="10" idx="1"/>
          </p:cNvCxnSpPr>
          <p:nvPr/>
        </p:nvCxnSpPr>
        <p:spPr>
          <a:xfrm xmlns:a="http://schemas.openxmlformats.org/drawingml/2006/main">
            <a:off x="4857750" y="2643188"/>
            <a:ext cx="304800"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45" name=""/>
          <p:cNvCxnSpPr>
            <a:stCxn xmlns:a="http://schemas.openxmlformats.org/drawingml/2006/main" id="10" idx="3"/>
            <a:endCxn xmlns:a="http://schemas.openxmlformats.org/drawingml/2006/main" id="13" idx="1"/>
          </p:cNvCxnSpPr>
          <p:nvPr/>
        </p:nvCxnSpPr>
        <p:spPr>
          <a:xfrm xmlns:a="http://schemas.openxmlformats.org/drawingml/2006/main">
            <a:off x="7115175" y="2643188"/>
            <a:ext cx="304800" cy="0"/>
          </a:xfrm>
          <a:prstGeom xmlns:a="http://schemas.openxmlformats.org/drawingml/2006/main" prst="straightConnector1">
            <a:avLst/>
          </a:prstGeom>
          <a:ln xmlns:a="http://schemas.openxmlformats.org/drawingml/2006/main" w="19050">
            <a:solidFill>
              <a:srgbClr val="73868E"/>
            </a:solidFill>
            <a:tailEnd type="triangle" w="sm" len="sm"/>
          </a:ln>
        </p:spPr>
      </p:cxnSp>
      <p:cxnSp>
        <p:nvCxnSpPr>
          <p:cNvPr id="46" name=""/>
          <p:cNvCxnSpPr>
            <a:stCxn xmlns:a="http://schemas.openxmlformats.org/drawingml/2006/main" id="13" idx="3"/>
            <a:endCxn xmlns:a="http://schemas.openxmlformats.org/drawingml/2006/main" id="16" idx="1"/>
          </p:cNvCxnSpPr>
          <p:nvPr/>
        </p:nvCxnSpPr>
        <p:spPr>
          <a:xfrm xmlns:a="http://schemas.openxmlformats.org/drawingml/2006/main">
            <a:off x="9372600" y="2643188"/>
            <a:ext cx="304800" cy="0"/>
          </a:xfrm>
          <a:prstGeom xmlns:a="http://schemas.openxmlformats.org/drawingml/2006/main" prst="straightConnector1">
            <a:avLst/>
          </a:prstGeom>
          <a:ln xmlns:a="http://schemas.openxmlformats.org/drawingml/2006/main" w="19050">
            <a:solidFill>
              <a:srgbClr val="73868E"/>
            </a:solidFill>
            <a:tailEnd type="triangle" w="sm" len="sm"/>
          </a:ln>
        </p:spPr>
      </p:cxnSp>
      <p:sp>
        <p:nvSpPr>
          <p:cNvPr id="23" name="">
            <a:extLst xmlns:a="http://schemas.openxmlformats.org/drawingml/2006/main">
              <a:ext uri="{FF2B5EF4-FFF2-40B4-BE49-F238E27FC236}">
                <a16:creationId xmlns:a16="http://schemas.microsoft.com/office/drawing/2014/main" id="{653F47C7-2952-46E2-AB2C-69C346F412C8}"/>
              </a:ext>
            </a:extLst>
          </p:cNvPr>
          <p:cNvSpPr>
            <a:spLocks xmlns:a="http://schemas.openxmlformats.org/drawingml/2006/main" noGrp="1"/>
          </p:cNvSpPr>
          <p:nvPr/>
        </p:nvSpPr>
        <p:spPr>
          <a:xfrm xmlns:a="http://schemas.openxmlformats.org/drawingml/2006/main">
            <a:off x="647700" y="3924300"/>
            <a:ext cx="10620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9766B"/>
                </a:solidFill>
                <a:latin typeface="Liberation Sans"/>
                <a:ea typeface="Liberation Sans"/>
                <a:cs typeface="Liberation Sans"/>
              </a:defRPr>
            </a:pPr>
            <a:r>
              <a:rPr sz="2625" b="1">
                <a:solidFill>
                  <a:srgbClr val="19766B"/>
                </a:solidFill>
                <a:latin typeface="Liberation Sans"/>
                <a:ea typeface="Liberation Sans"/>
                <a:cs typeface="Liberation Sans"/>
              </a:rPr>
              <a:t>First proposal fails the cross-street constraint.</a:t>
            </a:r>
          </a:p>
          <a:p xmlns:a="http://schemas.openxmlformats.org/drawingml/2006/main">
            <a:pPr>
              <a:defRPr sz="2625" b="1">
                <a:solidFill>
                  <a:srgbClr val="19766B"/>
                </a:solidFill>
                <a:latin typeface="Liberation Sans"/>
                <a:ea typeface="Liberation Sans"/>
                <a:cs typeface="Liberation Sans"/>
              </a:defRPr>
            </a:pPr>
            <a:r>
              <a:rPr sz="2625" b="1">
                <a:solidFill>
                  <a:srgbClr val="19766B"/>
                </a:solidFill>
                <a:latin typeface="Liberation Sans"/>
                <a:ea typeface="Liberation Sans"/>
                <a:cs typeface="Liberation Sans"/>
              </a:rPr>
              <a:t>The policy reduces the signal change and tests again.</a:t>
            </a:r>
          </a:p>
        </p:txBody>
      </p:sp>
      <p:sp>
        <p:nvSpPr>
          <p:cNvPr id="24" name="">
            <a:extLst xmlns:a="http://schemas.openxmlformats.org/drawingml/2006/main">
              <a:ext uri="{FF2B5EF4-FFF2-40B4-BE49-F238E27FC236}">
                <a16:creationId xmlns:a16="http://schemas.microsoft.com/office/drawing/2014/main" id="{2425BE84-4386-48A8-9960-F8D36AA9A558}"/>
              </a:ext>
            </a:extLst>
          </p:cNvPr>
          <p:cNvSpPr>
            <a:spLocks xmlns:a="http://schemas.openxmlformats.org/drawingml/2006/main" noGrp="1"/>
          </p:cNvSpPr>
          <p:nvPr/>
        </p:nvSpPr>
        <p:spPr>
          <a:xfrm xmlns:a="http://schemas.openxmlformats.org/drawingml/2006/main">
            <a:off x="647700" y="523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5"/>
                </a:solidFill>
                <a:latin typeface="Liberation Sans"/>
                <a:ea typeface="Liberation Sans"/>
                <a:cs typeface="Liberation Sans"/>
              </a:defRPr>
            </a:pPr>
            <a:r>
              <a:rPr sz="1875" b="0">
                <a:solidFill>
                  <a:srgbClr val="526B75"/>
                </a:solidFill>
                <a:latin typeface="Liberation Sans"/>
                <a:ea typeface="Liberation Sans"/>
                <a:cs typeface="Liberation Sans"/>
              </a:rPr>
              <a:t>Deterministic policies call tools and use simulator results.</a:t>
            </a:r>
          </a:p>
          <a:p xmlns:a="http://schemas.openxmlformats.org/drawingml/2006/main">
            <a:pPr>
              <a:defRPr sz="1875" b="0">
                <a:solidFill>
                  <a:srgbClr val="526B75"/>
                </a:solidFill>
                <a:latin typeface="Liberation Sans"/>
                <a:ea typeface="Liberation Sans"/>
                <a:cs typeface="Liberation Sans"/>
              </a:defRPr>
            </a:pPr>
            <a:r>
              <a:rPr sz="1875" b="0">
                <a:solidFill>
                  <a:srgbClr val="526B75"/>
                </a:solidFill>
                <a:latin typeface="Liberation Sans"/>
                <a:ea typeface="Liberation Sans"/>
                <a:cs typeface="Liberation Sans"/>
              </a:rPr>
              <a:t>Frozen alternatives face paired seeds and demand stress checks.</a:t>
            </a:r>
          </a:p>
        </p:txBody>
      </p:sp>
    </p:spTree>
    <p:extLst>
      <p:ext uri="{BB962C8B-B14F-4D97-AF65-F5344CB8AC3E}">
        <p14:creationId xmlns:p14="http://schemas.microsoft.com/office/powerpoint/2010/main" val="2010046256"/>
      </p:ext>
    </p:extLst>
  </p:cSld>
</p:sld>
</file>

<file path=ppt/slides/slide6.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C11E0B-8332-4917-96C4-18412606D6B6}"/>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Liberation Sans"/>
                <a:ea typeface="Liberation Sans"/>
                <a:cs typeface="Liberation Sans"/>
              </a:defRPr>
            </a:pPr>
            <a:r>
              <a:rPr sz="3450" b="1">
                <a:solidFill>
                  <a:srgbClr val="FFFFFF"/>
                </a:solidFill>
                <a:latin typeface="Liberation Sans"/>
                <a:ea typeface="Liberation Sans"/>
                <a:cs typeface="Liberation Sans"/>
              </a:rPr>
              <a:t>Live study</a:t>
            </a:r>
          </a:p>
        </p:txBody>
      </p:sp>
      <p:sp>
        <p:nvSpPr>
          <p:cNvPr id="2" name="">
            <a:extLst xmlns:a="http://schemas.openxmlformats.org/drawingml/2006/main">
              <a:ext uri="{FF2B5EF4-FFF2-40B4-BE49-F238E27FC236}">
                <a16:creationId xmlns:a16="http://schemas.microsoft.com/office/drawing/2014/main" id="{7A3B56AD-B3A1-4EEF-9291-434AFFBD2FFD}"/>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5C5CB"/>
                </a:solidFill>
                <a:latin typeface="Liberation Sans"/>
                <a:ea typeface="Liberation Sans"/>
                <a:cs typeface="Liberation Sans"/>
              </a:defRPr>
            </a:pPr>
            <a:r>
              <a:rPr sz="1350" b="0">
                <a:solidFill>
                  <a:srgbClr val="B5C5CB"/>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E9AD3181-0051-498D-BB68-BE1940CBEED0}"/>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5C5CB"/>
                </a:solidFill>
                <a:latin typeface="Liberation Sans"/>
                <a:ea typeface="Liberation Sans"/>
                <a:cs typeface="Liberation Sans"/>
              </a:defRPr>
            </a:pPr>
            <a:r>
              <a:rPr sz="1350" b="0">
                <a:solidFill>
                  <a:srgbClr val="B5C5CB"/>
                </a:solidFill>
                <a:latin typeface="Liberation Sans"/>
                <a:ea typeface="Liberation Sans"/>
                <a:cs typeface="Liberation Sans"/>
              </a:rPr>
              <a:t>06</a:t>
            </a:r>
          </a:p>
        </p:txBody>
      </p:sp>
      <p:sp>
        <p:nvSpPr>
          <p:cNvPr id="4" name="">
            <a:extLst xmlns:a="http://schemas.openxmlformats.org/drawingml/2006/main">
              <a:ext uri="{FF2B5EF4-FFF2-40B4-BE49-F238E27FC236}">
                <a16:creationId xmlns:a16="http://schemas.microsoft.com/office/drawing/2014/main" id="{11D9BCB9-3E1A-44B3-93CD-88A0A441F0E7}"/>
              </a:ext>
            </a:extLst>
          </p:cNvPr>
          <p:cNvSpPr>
            <a:spLocks xmlns:a="http://schemas.openxmlformats.org/drawingml/2006/main" noGrp="1"/>
          </p:cNvSpPr>
          <p:nvPr/>
        </p:nvSpPr>
        <p:spPr>
          <a:xfrm xmlns:a="http://schemas.openxmlformats.org/drawingml/2006/main">
            <a:off x="647700" y="1952625"/>
            <a:ext cx="10572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Liberation Sans"/>
                <a:ea typeface="Liberation Sans"/>
                <a:cs typeface="Liberation Sans"/>
              </a:defRPr>
            </a:pPr>
            <a:r>
              <a:rPr sz="4200" b="1">
                <a:solidFill>
                  <a:srgbClr val="FFFFFF"/>
                </a:solidFill>
                <a:latin typeface="Liberation Sans"/>
                <a:ea typeface="Liberation Sans"/>
                <a:cs typeface="Liberation Sans"/>
              </a:rPr>
              <a:t>One intersection.</a:t>
            </a:r>
          </a:p>
          <a:p xmlns:a="http://schemas.openxmlformats.org/drawingml/2006/main">
            <a:pPr>
              <a:defRPr sz="4200" b="1">
                <a:solidFill>
                  <a:srgbClr val="FFFFFF"/>
                </a:solidFill>
                <a:latin typeface="Liberation Sans"/>
                <a:ea typeface="Liberation Sans"/>
                <a:cs typeface="Liberation Sans"/>
              </a:defRPr>
            </a:pPr>
            <a:r>
              <a:rPr sz="4200" b="1">
                <a:solidFill>
                  <a:srgbClr val="FFFFFF"/>
                </a:solidFill>
                <a:latin typeface="Liberation Sans"/>
                <a:ea typeface="Liberation Sans"/>
                <a:cs typeface="Liberation Sans"/>
              </a:rPr>
              <a:t>One budget.</a:t>
            </a:r>
          </a:p>
          <a:p xmlns:a="http://schemas.openxmlformats.org/drawingml/2006/main">
            <a:pPr>
              <a:defRPr sz="4200" b="1">
                <a:solidFill>
                  <a:srgbClr val="FFFFFF"/>
                </a:solidFill>
                <a:latin typeface="Liberation Sans"/>
                <a:ea typeface="Liberation Sans"/>
                <a:cs typeface="Liberation Sans"/>
              </a:defRPr>
            </a:pPr>
            <a:r>
              <a:rPr sz="4200" b="1">
                <a:solidFill>
                  <a:srgbClr val="FFFFFF"/>
                </a:solidFill>
                <a:latin typeface="Liberation Sans"/>
                <a:ea typeface="Liberation Sans"/>
                <a:cs typeface="Liberation Sans"/>
              </a:rPr>
              <a:t>A visible decision.</a:t>
            </a:r>
          </a:p>
        </p:txBody>
      </p:sp>
      <p:sp>
        <p:nvSpPr>
          <p:cNvPr id="5" name="">
            <a:extLst xmlns:a="http://schemas.openxmlformats.org/drawingml/2006/main">
              <a:ext uri="{FF2B5EF4-FFF2-40B4-BE49-F238E27FC236}">
                <a16:creationId xmlns:a16="http://schemas.microsoft.com/office/drawing/2014/main" id="{BF11D085-C3FC-4454-8615-95C39CBAEFDC}"/>
              </a:ext>
            </a:extLst>
          </p:cNvPr>
          <p:cNvSpPr>
            <a:spLocks xmlns:a="http://schemas.openxmlformats.org/drawingml/2006/main" noGrp="1"/>
          </p:cNvSpPr>
          <p:nvPr/>
        </p:nvSpPr>
        <p:spPr>
          <a:xfrm xmlns:a="http://schemas.openxmlformats.org/drawingml/2006/main">
            <a:off x="647700" y="4953000"/>
            <a:ext cx="1033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5C5CB"/>
                </a:solidFill>
                <a:latin typeface="Liberation Sans"/>
                <a:ea typeface="Liberation Sans"/>
                <a:cs typeface="Liberation Sans"/>
              </a:defRPr>
            </a:pPr>
            <a:r>
              <a:rPr sz="2325" b="0">
                <a:solidFill>
                  <a:srgbClr val="B5C5CB"/>
                </a:solidFill>
                <a:latin typeface="Liberation Sans"/>
                <a:ea typeface="Liberation Sans"/>
                <a:cs typeface="Liberation Sans"/>
              </a:rPr>
              <a:t>Show the source context, rejected option, revised plan and exported evidence.</a:t>
            </a:r>
          </a:p>
        </p:txBody>
      </p:sp>
    </p:spTree>
    <p:extLst>
      <p:ext uri="{BB962C8B-B14F-4D97-AF65-F5344CB8AC3E}">
        <p14:creationId xmlns:p14="http://schemas.microsoft.com/office/powerpoint/2010/main" val="377406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415D62-5B74-4C0F-A2C7-CEB5F4B7B807}"/>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Recorded simulation result</a:t>
            </a:r>
          </a:p>
        </p:txBody>
      </p:sp>
      <p:sp>
        <p:nvSpPr>
          <p:cNvPr id="2" name="">
            <a:extLst xmlns:a="http://schemas.openxmlformats.org/drawingml/2006/main">
              <a:ext uri="{FF2B5EF4-FFF2-40B4-BE49-F238E27FC236}">
                <a16:creationId xmlns:a16="http://schemas.microsoft.com/office/drawing/2014/main" id="{93A25FC8-FF1E-476E-B5BE-5D0D7386D626}"/>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0E7F8A6B-DA2E-4B3F-AA4E-EB04E7D15C91}"/>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07</a:t>
            </a:r>
          </a:p>
        </p:txBody>
      </p:sp>
      <p:sp>
        <p:nvSpPr>
          <p:cNvPr id="4" name="">
            <a:extLst xmlns:a="http://schemas.openxmlformats.org/drawingml/2006/main">
              <a:ext uri="{FF2B5EF4-FFF2-40B4-BE49-F238E27FC236}">
                <a16:creationId xmlns:a16="http://schemas.microsoft.com/office/drawing/2014/main" id="{D53B0730-8050-4962-9AF9-975003ECBAEC}"/>
              </a:ext>
            </a:extLst>
          </p:cNvPr>
          <p:cNvSpPr>
            <a:spLocks xmlns:a="http://schemas.openxmlformats.org/drawingml/2006/main" noGrp="1"/>
          </p:cNvSpPr>
          <p:nvPr/>
        </p:nvSpPr>
        <p:spPr>
          <a:xfrm xmlns:a="http://schemas.openxmlformats.org/drawingml/2006/main">
            <a:off x="647700" y="1685925"/>
            <a:ext cx="3857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15F8B"/>
                </a:solidFill>
                <a:latin typeface="Liberation Sans"/>
                <a:ea typeface="Liberation Sans"/>
                <a:cs typeface="Liberation Sans"/>
              </a:defRPr>
            </a:pPr>
            <a:r>
              <a:rPr sz="5700" b="1">
                <a:solidFill>
                  <a:srgbClr val="315F8B"/>
                </a:solidFill>
                <a:latin typeface="Liberation Sans"/>
                <a:ea typeface="Liberation Sans"/>
                <a:cs typeface="Liberation Sans"/>
              </a:rPr>
              <a:t>6.0%</a:t>
            </a:r>
          </a:p>
        </p:txBody>
      </p:sp>
      <p:sp>
        <p:nvSpPr>
          <p:cNvPr id="5" name="">
            <a:extLst xmlns:a="http://schemas.openxmlformats.org/drawingml/2006/main">
              <a:ext uri="{FF2B5EF4-FFF2-40B4-BE49-F238E27FC236}">
                <a16:creationId xmlns:a16="http://schemas.microsoft.com/office/drawing/2014/main" id="{E5653557-21D4-433E-BCDD-17D525B23ADF}"/>
              </a:ext>
            </a:extLst>
          </p:cNvPr>
          <p:cNvSpPr>
            <a:spLocks xmlns:a="http://schemas.openxmlformats.org/drawingml/2006/main" noGrp="1"/>
          </p:cNvSpPr>
          <p:nvPr/>
        </p:nvSpPr>
        <p:spPr>
          <a:xfrm xmlns:a="http://schemas.openxmlformats.org/drawingml/2006/main">
            <a:off x="685800" y="260032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15F8B"/>
                </a:solidFill>
                <a:latin typeface="Liberation Sans"/>
                <a:ea typeface="Liberation Sans"/>
                <a:cs typeface="Liberation Sans"/>
              </a:defRPr>
            </a:pPr>
            <a:r>
              <a:rPr sz="2175" b="0">
                <a:solidFill>
                  <a:srgbClr val="315F8B"/>
                </a:solidFill>
                <a:latin typeface="Liberation Sans"/>
                <a:ea typeface="Liberation Sans"/>
                <a:cs typeface="Liberation Sans"/>
              </a:rPr>
              <a:t>less modeled delay after revision</a:t>
            </a:r>
          </a:p>
        </p:txBody>
      </p:sp>
      <p:sp>
        <p:nvSpPr>
          <p:cNvPr id="6" name="">
            <a:extLst xmlns:a="http://schemas.openxmlformats.org/drawingml/2006/main">
              <a:ext uri="{FF2B5EF4-FFF2-40B4-BE49-F238E27FC236}">
                <a16:creationId xmlns:a16="http://schemas.microsoft.com/office/drawing/2014/main" id="{D7713976-CE5B-4772-B7F6-7917557DC1C6}"/>
              </a:ext>
            </a:extLst>
          </p:cNvPr>
          <p:cNvSpPr>
            <a:spLocks xmlns:a="http://schemas.openxmlformats.org/drawingml/2006/main" noGrp="1"/>
          </p:cNvSpPr>
          <p:nvPr/>
        </p:nvSpPr>
        <p:spPr>
          <a:xfrm xmlns:a="http://schemas.openxmlformats.org/drawingml/2006/main">
            <a:off x="7810500" y="1809750"/>
            <a:ext cx="3714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95619"/>
                </a:solidFill>
                <a:latin typeface="Liberation Sans"/>
                <a:ea typeface="Liberation Sans"/>
                <a:cs typeface="Liberation Sans"/>
              </a:defRPr>
            </a:pPr>
            <a:r>
              <a:rPr sz="2175" b="0">
                <a:solidFill>
                  <a:srgbClr val="795619"/>
                </a:solidFill>
                <a:latin typeface="Liberation Sans"/>
                <a:ea typeface="Liberation Sans"/>
                <a:cs typeface="Liberation Sans"/>
              </a:rPr>
              <a:t>$15,000 assumed capital</a:t>
            </a:r>
          </a:p>
          <a:p xmlns:a="http://schemas.openxmlformats.org/drawingml/2006/main">
            <a:pPr>
              <a:defRPr sz="2175" b="0">
                <a:solidFill>
                  <a:srgbClr val="795619"/>
                </a:solidFill>
                <a:latin typeface="Liberation Sans"/>
                <a:ea typeface="Liberation Sans"/>
                <a:cs typeface="Liberation Sans"/>
              </a:defRPr>
            </a:pPr>
            <a:r>
              <a:rPr sz="2175" b="0">
                <a:solidFill>
                  <a:srgbClr val="795619"/>
                </a:solidFill>
                <a:latin typeface="Liberation Sans"/>
                <a:ea typeface="Liberation Sans"/>
                <a:cs typeface="Liberation Sans"/>
              </a:rPr>
              <a:t>+0.24% cross-street delay</a:t>
            </a:r>
          </a:p>
        </p:txBody>
      </p:sp>
      <p:graphicFrame>
        <p:nvGraphicFramePr>
          <p:cNvPr id="16" name="Chart"/>
          <p:cNvGraphicFramePr/>
          <p:nvPr/>
        </p:nvGraphicFramePr>
        <p:xfrm>
          <a:off xmlns:a="http://schemas.openxmlformats.org/drawingml/2006/main" x="647700" y="3400425"/>
          <a:ext xmlns:a="http://schemas.openxmlformats.org/drawingml/2006/main" cx="7286625" cy="2286000"/>
        </p:xfrm>
        <a:graphic xmlns:a="http://schemas.openxmlformats.org/drawingml/2006/main">
          <a:graphicData uri="http://schemas.openxmlformats.org/drawingml/2006/chart">
            <c:chart xmlns:r="http://schemas.openxmlformats.org/officeDocument/2006/relationships" xmlns:c="http://schemas.openxmlformats.org/drawingml/2006/chart" r:id="Ra3025b61ce254f3e"/>
          </a:graphicData>
        </a:graphic>
      </p:graphicFrame>
      <p:sp>
        <p:nvSpPr>
          <p:cNvPr id="8" name="">
            <a:extLst xmlns:a="http://schemas.openxmlformats.org/drawingml/2006/main">
              <a:ext uri="{FF2B5EF4-FFF2-40B4-BE49-F238E27FC236}">
                <a16:creationId xmlns:a16="http://schemas.microsoft.com/office/drawing/2014/main" id="{E3F85ED6-7B09-4A09-B27F-E39C1C4C621C}"/>
              </a:ext>
            </a:extLst>
          </p:cNvPr>
          <p:cNvSpPr>
            <a:spLocks xmlns:a="http://schemas.openxmlformats.org/drawingml/2006/main" noGrp="1"/>
          </p:cNvSpPr>
          <p:nvPr/>
        </p:nvSpPr>
        <p:spPr>
          <a:xfrm xmlns:a="http://schemas.openxmlformats.org/drawingml/2006/main">
            <a:off x="8172450" y="3371850"/>
            <a:ext cx="33813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0353E"/>
                </a:solidFill>
                <a:latin typeface="Liberation Sans"/>
                <a:ea typeface="Liberation Sans"/>
                <a:cs typeface="Liberation Sans"/>
              </a:defRPr>
            </a:pPr>
            <a:r>
              <a:rPr sz="1875" b="0">
                <a:solidFill>
                  <a:srgbClr val="A0353E"/>
                </a:solidFill>
                <a:latin typeface="Liberation Sans"/>
                <a:ea typeface="Liberation Sans"/>
                <a:cs typeface="Liberation Sans"/>
              </a:rPr>
              <a:t>First proposal fails</a:t>
            </a:r>
          </a:p>
          <a:p xmlns:a="http://schemas.openxmlformats.org/drawingml/2006/main">
            <a:pPr>
              <a:defRPr sz="1875" b="0">
                <a:solidFill>
                  <a:srgbClr val="A0353E"/>
                </a:solidFill>
                <a:latin typeface="Liberation Sans"/>
                <a:ea typeface="Liberation Sans"/>
                <a:cs typeface="Liberation Sans"/>
              </a:defRPr>
            </a:pPr>
            <a:r>
              <a:rPr sz="1875" b="0">
                <a:solidFill>
                  <a:srgbClr val="A0353E"/>
                </a:solidFill>
                <a:latin typeface="Liberation Sans"/>
                <a:ea typeface="Liberation Sans"/>
                <a:cs typeface="Liberation Sans"/>
              </a:rPr>
              <a:t>30% cross-street rule.</a:t>
            </a:r>
          </a:p>
          <a:p xmlns:a="http://schemas.openxmlformats.org/drawingml/2006/main">
            <a:r>
              <a:t/>
            </a:r>
          </a:p>
          <a:p xmlns:a="http://schemas.openxmlformats.org/drawingml/2006/main">
            <a:pPr>
              <a:defRPr sz="1875" b="0">
                <a:solidFill>
                  <a:srgbClr val="A0353E"/>
                </a:solidFill>
                <a:latin typeface="Liberation Sans"/>
                <a:ea typeface="Liberation Sans"/>
                <a:cs typeface="Liberation Sans"/>
              </a:defRPr>
            </a:pPr>
            <a:r>
              <a:rPr sz="1875" b="0">
                <a:solidFill>
                  <a:srgbClr val="A0353E"/>
                </a:solidFill>
                <a:latin typeface="Liberation Sans"/>
                <a:ea typeface="Liberation Sans"/>
                <a:cs typeface="Liberation Sans"/>
              </a:rPr>
              <a:t>Extra lane fails</a:t>
            </a:r>
          </a:p>
          <a:p xmlns:a="http://schemas.openxmlformats.org/drawingml/2006/main">
            <a:pPr>
              <a:defRPr sz="1875" b="0">
                <a:solidFill>
                  <a:srgbClr val="A0353E"/>
                </a:solidFill>
                <a:latin typeface="Liberation Sans"/>
                <a:ea typeface="Liberation Sans"/>
                <a:cs typeface="Liberation Sans"/>
              </a:defRPr>
            </a:pPr>
            <a:r>
              <a:rPr sz="1875" b="0">
                <a:solidFill>
                  <a:srgbClr val="A0353E"/>
                </a:solidFill>
                <a:latin typeface="Liberation Sans"/>
                <a:ea typeface="Liberation Sans"/>
                <a:cs typeface="Liberation Sans"/>
              </a:rPr>
              <a:t>$100,000 budget.</a:t>
            </a:r>
          </a:p>
        </p:txBody>
      </p:sp>
      <p:sp>
        <p:nvSpPr>
          <p:cNvPr id="9" name="">
            <a:extLst xmlns:a="http://schemas.openxmlformats.org/drawingml/2006/main">
              <a:ext uri="{FF2B5EF4-FFF2-40B4-BE49-F238E27FC236}">
                <a16:creationId xmlns:a16="http://schemas.microsoft.com/office/drawing/2014/main" id="{05A3242A-ABA8-4E05-BCC2-1707CFD6A2A6}"/>
              </a:ext>
            </a:extLst>
          </p:cNvPr>
          <p:cNvSpPr>
            <a:spLocks xmlns:a="http://schemas.openxmlformats.org/drawingml/2006/main" noGrp="1"/>
          </p:cNvSpPr>
          <p:nvPr/>
        </p:nvSpPr>
        <p:spPr>
          <a:xfrm xmlns:a="http://schemas.openxmlformats.org/drawingml/2006/main">
            <a:off x="647700" y="57721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B75"/>
                </a:solidFill>
                <a:latin typeface="Liberation Sans"/>
                <a:ea typeface="Liberation Sans"/>
                <a:cs typeface="Liberation Sans"/>
              </a:defRPr>
            </a:pPr>
            <a:r>
              <a:rPr sz="1500" b="0">
                <a:solidFill>
                  <a:srgbClr val="526B75"/>
                </a:solidFill>
                <a:latin typeface="Liberation Sans"/>
                <a:ea typeface="Liberation Sans"/>
                <a:cs typeface="Liberation Sans"/>
              </a:rPr>
              <a:t>Prior run 1099e73c. Synthetic corridor and derived arrivals. Field effect remains unverified.</a:t>
            </a:r>
          </a:p>
        </p:txBody>
      </p:sp>
    </p:spTree>
    <p:extLst>
      <p:ext uri="{BB962C8B-B14F-4D97-AF65-F5344CB8AC3E}">
        <p14:creationId xmlns:p14="http://schemas.microsoft.com/office/powerpoint/2010/main" val="2007297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71F229-A201-46C6-9156-144C4AE1DE2B}"/>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A practical pilot</a:t>
            </a:r>
          </a:p>
        </p:txBody>
      </p:sp>
      <p:sp>
        <p:nvSpPr>
          <p:cNvPr id="2" name="">
            <a:extLst xmlns:a="http://schemas.openxmlformats.org/drawingml/2006/main">
              <a:ext uri="{FF2B5EF4-FFF2-40B4-BE49-F238E27FC236}">
                <a16:creationId xmlns:a16="http://schemas.microsoft.com/office/drawing/2014/main" id="{8ED586A1-D4CD-4B69-9D11-95F03C863AF5}"/>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9CFBF125-CD1F-46D2-9479-45FCAC096A72}"/>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08</a:t>
            </a:r>
          </a:p>
        </p:txBody>
      </p:sp>
      <p:sp>
        <p:nvSpPr>
          <p:cNvPr id="4" name="">
            <a:extLst xmlns:a="http://schemas.openxmlformats.org/drawingml/2006/main">
              <a:ext uri="{FF2B5EF4-FFF2-40B4-BE49-F238E27FC236}">
                <a16:creationId xmlns:a16="http://schemas.microsoft.com/office/drawing/2014/main" id="{72CC9189-AACA-4F57-9DB1-4D24520A36DA}"/>
              </a:ext>
            </a:extLst>
          </p:cNvPr>
          <p:cNvSpPr>
            <a:spLocks xmlns:a="http://schemas.openxmlformats.org/drawingml/2006/main" noGrp="1"/>
          </p:cNvSpPr>
          <p:nvPr/>
        </p:nvSpPr>
        <p:spPr>
          <a:xfrm xmlns:a="http://schemas.openxmlformats.org/drawingml/2006/main">
            <a:off x="647700" y="175260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B36"/>
                </a:solidFill>
                <a:latin typeface="Liberation Sans"/>
                <a:ea typeface="Liberation Sans"/>
                <a:cs typeface="Liberation Sans"/>
              </a:defRPr>
            </a:pPr>
            <a:r>
              <a:rPr sz="3600" b="1">
                <a:solidFill>
                  <a:srgbClr val="102B36"/>
                </a:solidFill>
                <a:latin typeface="Liberation Sans"/>
                <a:ea typeface="Liberation Sans"/>
                <a:cs typeface="Liberation Sans"/>
              </a:rPr>
              <a:t>One planning team.</a:t>
            </a:r>
          </a:p>
          <a:p xmlns:a="http://schemas.openxmlformats.org/drawingml/2006/main">
            <a:pPr>
              <a:defRPr sz="3600" b="1">
                <a:solidFill>
                  <a:srgbClr val="102B36"/>
                </a:solidFill>
                <a:latin typeface="Liberation Sans"/>
                <a:ea typeface="Liberation Sans"/>
                <a:cs typeface="Liberation Sans"/>
              </a:defRPr>
            </a:pPr>
            <a:r>
              <a:rPr sz="3600" b="1">
                <a:solidFill>
                  <a:srgbClr val="102B36"/>
                </a:solidFill>
                <a:latin typeface="Liberation Sans"/>
                <a:ea typeface="Liberation Sans"/>
                <a:cs typeface="Liberation Sans"/>
              </a:rPr>
              <a:t>One calibrated corridor study.</a:t>
            </a:r>
          </a:p>
        </p:txBody>
      </p:sp>
      <p:sp>
        <p:nvSpPr>
          <p:cNvPr id="5" name="">
            <a:extLst xmlns:a="http://schemas.openxmlformats.org/drawingml/2006/main">
              <a:ext uri="{FF2B5EF4-FFF2-40B4-BE49-F238E27FC236}">
                <a16:creationId xmlns:a16="http://schemas.microsoft.com/office/drawing/2014/main" id="{3F8E4DEE-F745-4CF8-8D3F-BE7853C581D8}"/>
              </a:ext>
            </a:extLst>
          </p:cNvPr>
          <p:cNvSpPr>
            <a:spLocks xmlns:a="http://schemas.openxmlformats.org/drawingml/2006/main" noGrp="1"/>
          </p:cNvSpPr>
          <p:nvPr/>
        </p:nvSpPr>
        <p:spPr>
          <a:xfrm xmlns:a="http://schemas.openxmlformats.org/drawingml/2006/main">
            <a:off x="647700" y="3467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13B45"/>
                </a:solidFill>
                <a:latin typeface="Liberation Sans"/>
                <a:ea typeface="Liberation Sans"/>
                <a:cs typeface="Liberation Sans"/>
              </a:defRPr>
            </a:pPr>
            <a:r>
              <a:rPr sz="2100" b="0">
                <a:solidFill>
                  <a:srgbClr val="213B45"/>
                </a:solidFill>
                <a:latin typeface="Liberation Sans"/>
                <a:ea typeface="Liberation Sans"/>
                <a:cs typeface="Liberation Sans"/>
              </a:rPr>
              <a:t>Proposed value: less time assembling and revising an auditable shortlist.</a:t>
            </a:r>
          </a:p>
          <a:p xmlns:a="http://schemas.openxmlformats.org/drawingml/2006/main">
            <a:pPr>
              <a:defRPr sz="2100" b="0">
                <a:solidFill>
                  <a:srgbClr val="213B45"/>
                </a:solidFill>
                <a:latin typeface="Liberation Sans"/>
                <a:ea typeface="Liberation Sans"/>
                <a:cs typeface="Liberation Sans"/>
              </a:defRPr>
            </a:pPr>
            <a:r>
              <a:rPr sz="2100" b="0">
                <a:solidFill>
                  <a:srgbClr val="213B45"/>
                </a:solidFill>
                <a:latin typeface="Liberation Sans"/>
                <a:ea typeface="Liberation Sans"/>
                <a:cs typeface="Liberation Sans"/>
              </a:rPr>
              <a:t>Success measure: analyst hours per comparable engineering study.</a:t>
            </a:r>
          </a:p>
        </p:txBody>
      </p:sp>
      <p:sp>
        <p:nvSpPr>
          <p:cNvPr id="6" name="">
            <a:extLst xmlns:a="http://schemas.openxmlformats.org/drawingml/2006/main">
              <a:ext uri="{FF2B5EF4-FFF2-40B4-BE49-F238E27FC236}">
                <a16:creationId xmlns:a16="http://schemas.microsoft.com/office/drawing/2014/main" id="{9DA278E0-7C93-47CD-871E-BC2F0201B439}"/>
              </a:ext>
            </a:extLst>
          </p:cNvPr>
          <p:cNvSpPr>
            <a:spLocks xmlns:a="http://schemas.openxmlformats.org/drawingml/2006/main" noGrp="1"/>
          </p:cNvSpPr>
          <p:nvPr/>
        </p:nvSpPr>
        <p:spPr>
          <a:xfrm xmlns:a="http://schemas.openxmlformats.org/drawingml/2006/main">
            <a:off x="647700" y="46767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5"/>
                </a:solidFill>
                <a:latin typeface="Liberation Sans"/>
                <a:ea typeface="Liberation Sans"/>
                <a:cs typeface="Liberation Sans"/>
              </a:defRPr>
            </a:pPr>
            <a:r>
              <a:rPr sz="2025" b="0">
                <a:solidFill>
                  <a:srgbClr val="526B75"/>
                </a:solidFill>
                <a:latin typeface="Liberation Sans"/>
                <a:ea typeface="Liberation Sans"/>
                <a:cs typeface="Liberation Sans"/>
              </a:rPr>
              <a:t>Next: measured counts and timings, verified costs and resource availability.</a:t>
            </a:r>
          </a:p>
          <a:p xmlns:a="http://schemas.openxmlformats.org/drawingml/2006/main">
            <a:pPr>
              <a:defRPr sz="2025" b="0">
                <a:solidFill>
                  <a:srgbClr val="526B75"/>
                </a:solidFill>
                <a:latin typeface="Liberation Sans"/>
                <a:ea typeface="Liberation Sans"/>
                <a:cs typeface="Liberation Sans"/>
              </a:defRPr>
            </a:pPr>
            <a:r>
              <a:rPr sz="2025" b="0">
                <a:solidFill>
                  <a:srgbClr val="526B75"/>
                </a:solidFill>
                <a:latin typeface="Liberation Sans"/>
                <a:ea typeface="Liberation Sans"/>
                <a:cs typeface="Liberation Sans"/>
              </a:rPr>
              <a:t>Future commercial model: consultant or municipal study subscription.</a:t>
            </a:r>
          </a:p>
        </p:txBody>
      </p:sp>
    </p:spTree>
    <p:extLst>
      <p:ext uri="{BB962C8B-B14F-4D97-AF65-F5344CB8AC3E}">
        <p14:creationId xmlns:p14="http://schemas.microsoft.com/office/powerpoint/2010/main" val="10738248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1A9F75-89E2-4246-AA1A-CA819AC206C0}"/>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Evidence boundaries</a:t>
            </a:r>
          </a:p>
        </p:txBody>
      </p:sp>
      <p:sp>
        <p:nvSpPr>
          <p:cNvPr id="2" name="">
            <a:extLst xmlns:a="http://schemas.openxmlformats.org/drawingml/2006/main">
              <a:ext uri="{FF2B5EF4-FFF2-40B4-BE49-F238E27FC236}">
                <a16:creationId xmlns:a16="http://schemas.microsoft.com/office/drawing/2014/main" id="{0FB62FFC-6AB2-41D0-96F9-08A27CCBF7F4}"/>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8FA4838D-0E2A-42F3-8CC0-54979225BBF9}"/>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09</a:t>
            </a:r>
          </a:p>
        </p:txBody>
      </p:sp>
      <p:graphicFrame>
        <p:nvGraphicFramePr>
          <p:cNvPr id="9" name=""/>
          <p:cNvGraphicFramePr/>
          <p:nvPr/>
        </p:nvGraphicFramePr>
        <p:xfrm>
          <a:off xmlns:a="http://schemas.openxmlformats.org/drawingml/2006/main" x="647700" y="1781175"/>
          <a:ext xmlns:a="http://schemas.openxmlformats.org/drawingml/2006/main" cx="10896600" cy="3524250"/>
        </p:xfrm>
        <a:graphic xmlns:a="http://schemas.openxmlformats.org/drawingml/2006/main">
          <a:graphicData uri="http://schemas.openxmlformats.org/drawingml/2006/table">
            <a:tbl>
              <a:tblPr/>
              <a:tblGrid>
                <a:gridCol w="2714625"/>
                <a:gridCol w="8181975"/>
              </a:tblGrid>
              <a:tr h="587375">
                <a:tc>
                  <a:txBody>
                    <a:bodyPr/>
                    <a:lstStyle/>
                    <a:p>
                      <a:r>
                        <a:rPr sz="1800" b="1">
                          <a:solidFill>
                            <a:srgbClr val="FFFFFF"/>
                          </a:solidFill>
                          <a:latin typeface="Liberation Sans"/>
                          <a:ea typeface="Liberation Sans"/>
                          <a:cs typeface="Liberation Sans"/>
                        </a:rPr>
                        <a:t>Status</a:t>
                      </a:r>
                    </a:p>
                  </a:txBody>
                  <a:tcPr marL="152400" marR="152400" marT="114300" marB="114300">
                    <a:solidFill>
                      <a:srgbClr val="102B36"/>
                    </a:solidFill>
                  </a:tcPr>
                </a:tc>
                <a:tc>
                  <a:txBody>
                    <a:bodyPr/>
                    <a:lstStyle/>
                    <a:p>
                      <a:r>
                        <a:rPr sz="1800" b="1">
                          <a:solidFill>
                            <a:srgbClr val="FFFFFF"/>
                          </a:solidFill>
                          <a:latin typeface="Liberation Sans"/>
                          <a:ea typeface="Liberation Sans"/>
                          <a:cs typeface="Liberation Sans"/>
                        </a:rPr>
                        <a:t>Evidence and limits</a:t>
                      </a:r>
                    </a:p>
                  </a:txBody>
                  <a:tcPr marL="152400" marR="152400" marT="114300" marB="114300">
                    <a:solidFill>
                      <a:srgbClr val="102B36"/>
                    </a:solidFill>
                  </a:tcPr>
                </a:tc>
              </a:tr>
              <a:tr h="587375">
                <a:tc>
                  <a:txBody>
                    <a:bodyPr/>
                    <a:lstStyle/>
                    <a:p>
                      <a:r>
                        <a:rPr sz="1800">
                          <a:solidFill>
                            <a:srgbClr val="213B45"/>
                          </a:solidFill>
                          <a:latin typeface="Liberation Sans"/>
                          <a:ea typeface="Liberation Sans"/>
                          <a:cs typeface="Liberation Sans"/>
                        </a:rPr>
                        <a:t>Observed</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Public City rows, retrieval times and source hashes</a:t>
                      </a:r>
                    </a:p>
                  </a:txBody>
                  <a:tcPr marL="152400" marR="152400" marT="114300" marB="114300">
                    <a:solidFill>
                      <a:srgbClr val="FFFFFF"/>
                    </a:solidFill>
                  </a:tcPr>
                </a:tc>
              </a:tr>
              <a:tr h="587375">
                <a:tc>
                  <a:txBody>
                    <a:bodyPr/>
                    <a:lstStyle/>
                    <a:p>
                      <a:r>
                        <a:rPr sz="1800">
                          <a:solidFill>
                            <a:srgbClr val="213B45"/>
                          </a:solidFill>
                          <a:latin typeface="Liberation Sans"/>
                          <a:ea typeface="Liberation Sans"/>
                          <a:cs typeface="Liberation Sans"/>
                        </a:rPr>
                        <a:t>Derived</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Parsed lane impacts and incident frequencies</a:t>
                      </a:r>
                    </a:p>
                  </a:txBody>
                  <a:tcPr marL="152400" marR="152400" marT="114300" marB="114300">
                    <a:solidFill>
                      <a:srgbClr val="FFFFFF"/>
                    </a:solidFill>
                  </a:tcPr>
                </a:tc>
              </a:tr>
              <a:tr h="587375">
                <a:tc>
                  <a:txBody>
                    <a:bodyPr/>
                    <a:lstStyle/>
                    <a:p>
                      <a:r>
                        <a:rPr sz="1800">
                          <a:solidFill>
                            <a:srgbClr val="213B45"/>
                          </a:solidFill>
                          <a:latin typeface="Liberation Sans"/>
                          <a:ea typeface="Liberation Sans"/>
                          <a:cs typeface="Liberation Sans"/>
                        </a:rPr>
                        <a:t>Modeled</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SUMO delay on synthetic corridor geometry</a:t>
                      </a:r>
                    </a:p>
                  </a:txBody>
                  <a:tcPr marL="152400" marR="152400" marT="114300" marB="114300">
                    <a:solidFill>
                      <a:srgbClr val="FFFFFF"/>
                    </a:solidFill>
                  </a:tcPr>
                </a:tc>
              </a:tr>
              <a:tr h="587375">
                <a:tc>
                  <a:txBody>
                    <a:bodyPr/>
                    <a:lstStyle/>
                    <a:p>
                      <a:r>
                        <a:rPr sz="1800">
                          <a:solidFill>
                            <a:srgbClr val="213B45"/>
                          </a:solidFill>
                          <a:latin typeface="Liberation Sans"/>
                          <a:ea typeface="Liberation Sans"/>
                          <a:cs typeface="Liberation Sans"/>
                        </a:rPr>
                        <a:t>Assumed</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Costs, arrival conversions and resource scenarios</a:t>
                      </a:r>
                    </a:p>
                  </a:txBody>
                  <a:tcPr marL="152400" marR="152400" marT="114300" marB="114300">
                    <a:solidFill>
                      <a:srgbClr val="FFFFFF"/>
                    </a:solidFill>
                  </a:tcPr>
                </a:tc>
              </a:tr>
              <a:tr h="587375">
                <a:tc>
                  <a:txBody>
                    <a:bodyPr/>
                    <a:lstStyle/>
                    <a:p>
                      <a:r>
                        <a:rPr sz="1800">
                          <a:solidFill>
                            <a:srgbClr val="213B45"/>
                          </a:solidFill>
                          <a:latin typeface="Liberation Sans"/>
                          <a:ea typeface="Liberation Sans"/>
                          <a:cs typeface="Liberation Sans"/>
                        </a:rPr>
                        <a:t>Missing / unknown</a:t>
                      </a:r>
                    </a:p>
                  </a:txBody>
                  <a:tcPr marL="152400" marR="152400" marT="114300" marB="114300">
                    <a:solidFill>
                      <a:srgbClr val="FFFFFF"/>
                    </a:solidFill>
                  </a:tcPr>
                </a:tc>
                <a:tc>
                  <a:txBody>
                    <a:bodyPr/>
                    <a:lstStyle/>
                    <a:p>
                      <a:r>
                        <a:rPr sz="1800">
                          <a:solidFill>
                            <a:srgbClr val="213B45"/>
                          </a:solidFill>
                          <a:latin typeface="Liberation Sans"/>
                          <a:ea typeface="Liberation Sans"/>
                          <a:cs typeface="Liberation Sans"/>
                        </a:rPr>
                        <a:t>Turning counts, controller timings, validated customer pain</a:t>
                      </a:r>
                    </a:p>
                  </a:txBody>
                  <a:tcPr marL="152400" marR="152400" marT="114300" marB="11430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4150F15-DD9D-4909-974A-ED93A4F7A3CC}"/>
              </a:ext>
            </a:extLst>
          </p:cNvPr>
          <p:cNvSpPr>
            <a:spLocks xmlns:a="http://schemas.openxmlformats.org/drawingml/2006/main" noGrp="1"/>
          </p:cNvSpPr>
          <p:nvPr/>
        </p:nvSpPr>
        <p:spPr>
          <a:xfrm xmlns:a="http://schemas.openxmlformats.org/drawingml/2006/main">
            <a:off x="647700" y="56197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5"/>
                </a:solidFill>
                <a:latin typeface="Liberation Sans"/>
                <a:ea typeface="Liberation Sans"/>
                <a:cs typeface="Liberation Sans"/>
              </a:defRPr>
            </a:pPr>
            <a:r>
              <a:rPr sz="1800" b="0">
                <a:solidFill>
                  <a:srgbClr val="526B75"/>
                </a:solidFill>
                <a:latin typeface="Liberation Sans"/>
                <a:ea typeface="Liberation Sans"/>
                <a:cs typeface="Liberation Sans"/>
              </a:rPr>
              <a:t>Source APIs and model outputs stay separate. Engineering review precedes field change.</a:t>
            </a:r>
          </a:p>
        </p:txBody>
      </p:sp>
    </p:spTree>
    <p:extLst>
      <p:ext uri="{BB962C8B-B14F-4D97-AF65-F5344CB8AC3E}">
        <p14:creationId xmlns:p14="http://schemas.microsoft.com/office/powerpoint/2010/main" val="57044381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C691B1-9832-445D-88C6-B3A5BD479ECC}"/>
              </a:ext>
            </a:extLst>
          </p:cNvPr>
          <p:cNvSpPr>
            <a:spLocks xmlns:a="http://schemas.openxmlformats.org/drawingml/2006/main" noGrp="1"/>
          </p:cNvSpPr>
          <p:nvPr/>
        </p:nvSpPr>
        <p:spPr>
          <a:xfrm xmlns:a="http://schemas.openxmlformats.org/drawingml/2006/main">
            <a:off x="647700" y="495300"/>
            <a:ext cx="1089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B36"/>
                </a:solidFill>
                <a:latin typeface="Liberation Sans"/>
                <a:ea typeface="Liberation Sans"/>
                <a:cs typeface="Liberation Sans"/>
              </a:defRPr>
            </a:pPr>
            <a:r>
              <a:rPr sz="3450" b="1">
                <a:solidFill>
                  <a:srgbClr val="102B36"/>
                </a:solidFill>
                <a:latin typeface="Liberation Sans"/>
                <a:ea typeface="Liberation Sans"/>
                <a:cs typeface="Liberation Sans"/>
              </a:rPr>
              <a:t>Demo and submission preparation</a:t>
            </a:r>
          </a:p>
        </p:txBody>
      </p:sp>
      <p:sp>
        <p:nvSpPr>
          <p:cNvPr id="2" name="">
            <a:extLst xmlns:a="http://schemas.openxmlformats.org/drawingml/2006/main">
              <a:ext uri="{FF2B5EF4-FFF2-40B4-BE49-F238E27FC236}">
                <a16:creationId xmlns:a16="http://schemas.microsoft.com/office/drawing/2014/main" id="{B591AFD3-82BE-4253-A7D6-77D2706DD2CD}"/>
              </a:ext>
            </a:extLst>
          </p:cNvPr>
          <p:cNvSpPr>
            <a:spLocks xmlns:a="http://schemas.openxmlformats.org/drawingml/2006/main" noGrp="1"/>
          </p:cNvSpPr>
          <p:nvPr/>
        </p:nvSpPr>
        <p:spPr>
          <a:xfrm xmlns:a="http://schemas.openxmlformats.org/drawingml/2006/main">
            <a:off x="647700" y="6296025"/>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Bottleneck Busters</a:t>
            </a:r>
          </a:p>
        </p:txBody>
      </p:sp>
      <p:sp>
        <p:nvSpPr>
          <p:cNvPr id="3" name="">
            <a:extLst xmlns:a="http://schemas.openxmlformats.org/drawingml/2006/main">
              <a:ext uri="{FF2B5EF4-FFF2-40B4-BE49-F238E27FC236}">
                <a16:creationId xmlns:a16="http://schemas.microsoft.com/office/drawing/2014/main" id="{F4423832-EB3C-4B59-9336-542CDA02C599}"/>
              </a:ext>
            </a:extLst>
          </p:cNvPr>
          <p:cNvSpPr>
            <a:spLocks xmlns:a="http://schemas.openxmlformats.org/drawingml/2006/main" noGrp="1"/>
          </p:cNvSpPr>
          <p:nvPr/>
        </p:nvSpPr>
        <p:spPr>
          <a:xfrm xmlns:a="http://schemas.openxmlformats.org/drawingml/2006/main">
            <a:off x="11049000" y="629602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5"/>
                </a:solidFill>
                <a:latin typeface="Liberation Sans"/>
                <a:ea typeface="Liberation Sans"/>
                <a:cs typeface="Liberation Sans"/>
              </a:defRPr>
            </a:pPr>
            <a:r>
              <a:rPr sz="1350" b="0">
                <a:solidFill>
                  <a:srgbClr val="526B75"/>
                </a:solidFill>
                <a:latin typeface="Liberation Sans"/>
                <a:ea typeface="Liberation Sans"/>
                <a:cs typeface="Liberation Sans"/>
              </a:rPr>
              <a:t>10</a:t>
            </a:r>
          </a:p>
        </p:txBody>
      </p:sp>
      <p:sp>
        <p:nvSpPr>
          <p:cNvPr id="4" name="">
            <a:extLst xmlns:a="http://schemas.openxmlformats.org/drawingml/2006/main">
              <a:ext uri="{FF2B5EF4-FFF2-40B4-BE49-F238E27FC236}">
                <a16:creationId xmlns:a16="http://schemas.microsoft.com/office/drawing/2014/main" id="{B7C9BC7D-17EA-4CE2-80F8-F1AE5328488B}"/>
              </a:ext>
            </a:extLst>
          </p:cNvPr>
          <p:cNvSpPr>
            <a:spLocks xmlns:a="http://schemas.openxmlformats.org/drawingml/2006/main" noGrp="1"/>
          </p:cNvSpPr>
          <p:nvPr/>
        </p:nvSpPr>
        <p:spPr>
          <a:xfrm xmlns:a="http://schemas.openxmlformats.org/drawingml/2006/main">
            <a:off x="647700" y="1809750"/>
            <a:ext cx="10810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13B45"/>
                </a:solidFill>
                <a:latin typeface="Liberation Sans"/>
                <a:ea typeface="Liberation Sans"/>
                <a:cs typeface="Liberation Sans"/>
              </a:defRPr>
            </a:pPr>
            <a:r>
              <a:rPr sz="2250" b="0">
                <a:solidFill>
                  <a:srgbClr val="213B45"/>
                </a:solidFill>
                <a:latin typeface="Liberation Sans"/>
                <a:ea typeface="Liberation Sans"/>
                <a:cs typeface="Liberation Sans"/>
              </a:rPr>
              <a:t>Final rehearsed run: [RUN ID + report link]</a:t>
            </a:r>
          </a:p>
          <a:p xmlns:a="http://schemas.openxmlformats.org/drawingml/2006/main">
            <a:pPr>
              <a:defRPr sz="2250" b="0">
                <a:solidFill>
                  <a:srgbClr val="213B45"/>
                </a:solidFill>
                <a:latin typeface="Liberation Sans"/>
                <a:ea typeface="Liberation Sans"/>
                <a:cs typeface="Liberation Sans"/>
              </a:defRPr>
            </a:pPr>
            <a:r>
              <a:rPr sz="2250" b="0">
                <a:solidFill>
                  <a:srgbClr val="213B45"/>
                </a:solidFill>
                <a:latin typeface="Liberation Sans"/>
                <a:ea typeface="Liberation Sans"/>
                <a:cs typeface="Liberation Sans"/>
              </a:rPr>
              <a:t>Backup: [VIDEO URL + 2–5 screenshots]</a:t>
            </a:r>
          </a:p>
          <a:p xmlns:a="http://schemas.openxmlformats.org/drawingml/2006/main">
            <a:pPr>
              <a:defRPr sz="2250" b="0">
                <a:solidFill>
                  <a:srgbClr val="213B45"/>
                </a:solidFill>
                <a:latin typeface="Liberation Sans"/>
                <a:ea typeface="Liberation Sans"/>
                <a:cs typeface="Liberation Sans"/>
              </a:defRPr>
            </a:pPr>
            <a:r>
              <a:rPr sz="2250" b="0">
                <a:solidFill>
                  <a:srgbClr val="213B45"/>
                </a:solidFill>
                <a:latin typeface="Liberation Sans"/>
                <a:ea typeface="Liberation Sans"/>
                <a:cs typeface="Liberation Sans"/>
              </a:rPr>
              <a:t>Customer evidence: [ROLE + quote + date]</a:t>
            </a:r>
          </a:p>
          <a:p xmlns:a="http://schemas.openxmlformats.org/drawingml/2006/main">
            <a:pPr>
              <a:defRPr sz="2250" b="0">
                <a:solidFill>
                  <a:srgbClr val="213B45"/>
                </a:solidFill>
                <a:latin typeface="Liberation Sans"/>
                <a:ea typeface="Liberation Sans"/>
                <a:cs typeface="Liberation Sans"/>
              </a:defRPr>
            </a:pPr>
            <a:r>
              <a:rPr sz="2250" b="0">
                <a:solidFill>
                  <a:srgbClr val="213B45"/>
                </a:solidFill>
                <a:latin typeface="Liberation Sans"/>
                <a:ea typeface="Liberation Sans"/>
                <a:cs typeface="Liberation Sans"/>
              </a:rPr>
              <a:t>Custom-case approval: [ORGANIZER confirmation]</a:t>
            </a:r>
          </a:p>
        </p:txBody>
      </p:sp>
      <p:sp>
        <p:nvSpPr>
          <p:cNvPr id="5" name="">
            <a:extLst xmlns:a="http://schemas.openxmlformats.org/drawingml/2006/main">
              <a:ext uri="{FF2B5EF4-FFF2-40B4-BE49-F238E27FC236}">
                <a16:creationId xmlns:a16="http://schemas.microsoft.com/office/drawing/2014/main" id="{50FD935A-A3B7-4C98-AF64-62D3EBAED2FB}"/>
              </a:ext>
            </a:extLst>
          </p:cNvPr>
          <p:cNvSpPr>
            <a:spLocks xmlns:a="http://schemas.openxmlformats.org/drawingml/2006/main" noGrp="1"/>
          </p:cNvSpPr>
          <p:nvPr/>
        </p:nvSpPr>
        <p:spPr>
          <a:xfrm xmlns:a="http://schemas.openxmlformats.org/drawingml/2006/main">
            <a:off x="647700" y="4286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B36"/>
                </a:solidFill>
                <a:latin typeface="Liberation Sans"/>
                <a:ea typeface="Liberation Sans"/>
                <a:cs typeface="Liberation Sans"/>
              </a:defRPr>
            </a:pPr>
            <a:r>
              <a:rPr sz="2625" b="1">
                <a:solidFill>
                  <a:srgbClr val="102B36"/>
                </a:solidFill>
                <a:latin typeface="Liberation Sans"/>
                <a:ea typeface="Liberation Sans"/>
                <a:cs typeface="Liberation Sans"/>
              </a:rPr>
              <a:t>Submission: Sunday October 4, noon MDT</a:t>
            </a:r>
          </a:p>
          <a:p xmlns:a="http://schemas.openxmlformats.org/drawingml/2006/main">
            <a:pPr>
              <a:defRPr sz="2625" b="1">
                <a:solidFill>
                  <a:srgbClr val="102B36"/>
                </a:solidFill>
                <a:latin typeface="Liberation Sans"/>
                <a:ea typeface="Liberation Sans"/>
                <a:cs typeface="Liberation Sans"/>
              </a:defRPr>
            </a:pPr>
            <a:r>
              <a:rPr sz="2625" b="1">
                <a:solidFill>
                  <a:srgbClr val="102B36"/>
                </a:solidFill>
                <a:latin typeface="Liberation Sans"/>
                <a:ea typeface="Liberation Sans"/>
                <a:cs typeface="Liberation Sans"/>
              </a:rPr>
              <a:t>Pitch: 5 minutes, then 3 minutes Q&amp;A</a:t>
            </a:r>
          </a:p>
        </p:txBody>
      </p:sp>
      <p:sp>
        <p:nvSpPr>
          <p:cNvPr id="6" name="">
            <a:extLst xmlns:a="http://schemas.openxmlformats.org/drawingml/2006/main">
              <a:ext uri="{FF2B5EF4-FFF2-40B4-BE49-F238E27FC236}">
                <a16:creationId xmlns:a16="http://schemas.microsoft.com/office/drawing/2014/main" id="{61A1FABA-7FFE-4CDE-809A-5AC9A5B68C42}"/>
              </a:ext>
            </a:extLst>
          </p:cNvPr>
          <p:cNvSpPr>
            <a:spLocks xmlns:a="http://schemas.openxmlformats.org/drawingml/2006/main" noGrp="1"/>
          </p:cNvSpPr>
          <p:nvPr/>
        </p:nvSpPr>
        <p:spPr>
          <a:xfrm xmlns:a="http://schemas.openxmlformats.org/drawingml/2006/main">
            <a:off x="647700"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0353E"/>
                </a:solidFill>
                <a:latin typeface="Liberation Sans"/>
                <a:ea typeface="Liberation Sans"/>
                <a:cs typeface="Liberation Sans"/>
              </a:defRPr>
            </a:pPr>
            <a:r>
              <a:rPr sz="1800" b="0">
                <a:solidFill>
                  <a:srgbClr val="A0353E"/>
                </a:solidFill>
                <a:latin typeface="Liberation Sans"/>
                <a:ea typeface="Liberation Sans"/>
                <a:cs typeface="Liberation Sans"/>
              </a:rPr>
              <a:t>Organizer approval and final submission remain unverified.</a:t>
            </a:r>
          </a:p>
        </p:txBody>
      </p:sp>
    </p:spTree>
    <p:extLst>
      <p:ext uri="{BB962C8B-B14F-4D97-AF65-F5344CB8AC3E}">
        <p14:creationId xmlns:p14="http://schemas.microsoft.com/office/powerpoint/2010/main" val="292662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2026-10-03T23:30:56.2010000Z</dcterms:created>
  <dcterms:modified xsi:type="dcterms:W3CDTF">2026-10-03T23:30:56.2010000Z</dcterms:modified>
</coreProperties>
</file>